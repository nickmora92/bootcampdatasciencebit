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e7a6911f97247f3" /><Relationship Type="http://schemas.openxmlformats.org/officeDocument/2006/relationships/extended-properties" Target="/docProps/app.xml" Id="R464200bb07404086" /><Relationship Type="http://schemas.openxmlformats.org/officeDocument/2006/relationships/officeDocument" Target="/ppt/presentation.xml" Id="Rb16247eec0cd48d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e4d1ed53c594442"/>
  </p:sldMasterIdLst>
  <p:notesMasterIdLst>
    <p:notesMasterId xmlns:r="http://schemas.openxmlformats.org/officeDocument/2006/relationships" r:id="R0de4b58dd8d2445b"/>
  </p:notesMasterIdLst>
  <p:sldIdLst>
    <p:sldId xmlns:r="http://schemas.openxmlformats.org/officeDocument/2006/relationships" id="256" r:id="Rbd1682fbd15b468a"/>
    <p:sldId xmlns:r="http://schemas.openxmlformats.org/officeDocument/2006/relationships" id="257" r:id="R4ede408199ab45a8"/>
    <p:sldId xmlns:r="http://schemas.openxmlformats.org/officeDocument/2006/relationships" id="258" r:id="Ra433821705124d14"/>
    <p:sldId xmlns:r="http://schemas.openxmlformats.org/officeDocument/2006/relationships" id="259" r:id="Rbead5c9564c944a3"/>
    <p:sldId xmlns:r="http://schemas.openxmlformats.org/officeDocument/2006/relationships" id="260" r:id="R991764a7090f4cbe"/>
    <p:sldId xmlns:r="http://schemas.openxmlformats.org/officeDocument/2006/relationships" id="261" r:id="R8d6f4451543743d5"/>
    <p:sldId xmlns:r="http://schemas.openxmlformats.org/officeDocument/2006/relationships" id="262" r:id="Re69d7aac50f8427b"/>
    <p:sldId xmlns:r="http://schemas.openxmlformats.org/officeDocument/2006/relationships" id="263" r:id="Rc421cfce75d549c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84f27c7ab6649b6" /><Relationship Type="http://schemas.openxmlformats.org/officeDocument/2006/relationships/slideMaster" Target="/ppt/slideMasters/slideMaster1.xml" Id="R5e4d1ed53c594442" /><Relationship Type="http://schemas.openxmlformats.org/officeDocument/2006/relationships/notesMaster" Target="/ppt/notesMasters/notesMaster1.xml" Id="R0de4b58dd8d2445b" /><Relationship Type="http://schemas.openxmlformats.org/officeDocument/2006/relationships/presProps" Target="/ppt/presProps.xml" Id="R2bc2b38223ca4798" /><Relationship Type="http://schemas.openxmlformats.org/officeDocument/2006/relationships/tableStyles" Target="/ppt/tableStyles.xml" Id="R5a496f5f028b4431" /><Relationship Type="http://schemas.openxmlformats.org/officeDocument/2006/relationships/slide" Target="/ppt/slides/slide1.xml" Id="Rbd1682fbd15b468a" /><Relationship Type="http://schemas.openxmlformats.org/officeDocument/2006/relationships/slide" Target="/ppt/slides/slide2.xml" Id="R4ede408199ab45a8" /><Relationship Type="http://schemas.openxmlformats.org/officeDocument/2006/relationships/slide" Target="/ppt/slides/slide3.xml" Id="Ra433821705124d14" /><Relationship Type="http://schemas.openxmlformats.org/officeDocument/2006/relationships/slide" Target="/ppt/slides/slide4.xml" Id="Rbead5c9564c944a3" /><Relationship Type="http://schemas.openxmlformats.org/officeDocument/2006/relationships/slide" Target="/ppt/slides/slide5.xml" Id="R991764a7090f4cbe" /><Relationship Type="http://schemas.openxmlformats.org/officeDocument/2006/relationships/slide" Target="/ppt/slides/slide6.xml" Id="R8d6f4451543743d5" /><Relationship Type="http://schemas.openxmlformats.org/officeDocument/2006/relationships/slide" Target="/ppt/slides/slide7.xml" Id="Re69d7aac50f8427b" /><Relationship Type="http://schemas.openxmlformats.org/officeDocument/2006/relationships/slide" Target="/ppt/slides/slide8.xml" Id="Rc421cfce75d549c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b2f36318a2442d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b988602dcf048e6" /><Relationship Type="http://schemas.openxmlformats.org/officeDocument/2006/relationships/notesMaster" Target="/ppt/notesMasters/notesMaster1.xml" Id="Ra6c6a89ca0de46b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0188e7da8b74685" /><Relationship Type="http://schemas.openxmlformats.org/officeDocument/2006/relationships/notesMaster" Target="/ppt/notesMasters/notesMaster1.xml" Id="R07437b257d9f482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a5bf8f55dd34b54" /><Relationship Type="http://schemas.openxmlformats.org/officeDocument/2006/relationships/notesMaster" Target="/ppt/notesMasters/notesMaster1.xml" Id="R2e9ba3325db84e4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dceccd6b9d74310" /><Relationship Type="http://schemas.openxmlformats.org/officeDocument/2006/relationships/notesMaster" Target="/ppt/notesMasters/notesMaster1.xml" Id="Rac56755c1b4e41e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4f5d5227e2943cd" /><Relationship Type="http://schemas.openxmlformats.org/officeDocument/2006/relationships/notesMaster" Target="/ppt/notesMasters/notesMaster1.xml" Id="R9f8e6a8a1a3543d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844fb80cd6347f0" /><Relationship Type="http://schemas.openxmlformats.org/officeDocument/2006/relationships/notesMaster" Target="/ppt/notesMasters/notesMaster1.xml" Id="R4057f0d1ceea42e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914f6c032ea405f" /><Relationship Type="http://schemas.openxmlformats.org/officeDocument/2006/relationships/notesMaster" Target="/ppt/notesMasters/notesMaster1.xml" Id="R8804af2c1ace4e6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4fac457184a4935" /><Relationship Type="http://schemas.openxmlformats.org/officeDocument/2006/relationships/notesMaster" Target="/ppt/notesMasters/notesMaster1.xml" Id="R34978ff96a794e6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Datos y métricas: notebook 05_Prediccion_Cancelaciones_Hotel.ipynb ejecutado localmente.</a:t>
            </a:r>
          </a:p>
          <a:p xmlns:a="http://schemas.openxmlformats.org/drawingml/2006/main">
            <a:r>
              <a:t>Dataset: Kaggle, Hotel Booking Demand (https://www.kaggle.com/datasets/jessemostipak/hotel-booking-demand).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Datos y métricas: notebook 05_Prediccion_Cancelaciones_Hotel.ipynb ejecutado localmente.</a:t>
            </a:r>
          </a:p>
          <a:p xmlns:a="http://schemas.openxmlformats.org/drawingml/2006/main">
            <a:r>
              <a:t>Dataset: Kaggle, Hotel Booking Demand (https://www.kaggle.com/datasets/jessemostipak/hotel-booking-demand).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Datos y métricas: notebook 05_Prediccion_Cancelaciones_Hotel.ipynb ejecutado localmente.</a:t>
            </a:r>
          </a:p>
          <a:p xmlns:a="http://schemas.openxmlformats.org/drawingml/2006/main">
            <a:r>
              <a:t>Dataset: Kaggle, Hotel Booking Demand (https://www.kaggle.com/datasets/jessemostipak/hotel-booking-demand).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Datos y métricas: notebook 05_Prediccion_Cancelaciones_Hotel.ipynb ejecutado localmente.</a:t>
            </a:r>
          </a:p>
          <a:p xmlns:a="http://schemas.openxmlformats.org/drawingml/2006/main">
            <a:r>
              <a:t>Dataset: Kaggle, Hotel Booking Demand (https://www.kaggle.com/datasets/jessemostipak/hotel-booking-demand).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Datos y métricas: notebook 05_Prediccion_Cancelaciones_Hotel.ipynb ejecutado localmente.</a:t>
            </a:r>
          </a:p>
          <a:p xmlns:a="http://schemas.openxmlformats.org/drawingml/2006/main">
            <a:r>
              <a:t>Dataset: Kaggle, Hotel Booking Demand (https://www.kaggle.com/datasets/jessemostipak/hotel-booking-demand).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Datos y métricas: notebook 05_Prediccion_Cancelaciones_Hotel.ipynb ejecutado localmente.</a:t>
            </a:r>
          </a:p>
          <a:p xmlns:a="http://schemas.openxmlformats.org/drawingml/2006/main">
            <a:r>
              <a:t>Dataset: Kaggle, Hotel Booking Demand (https://www.kaggle.com/datasets/jessemostipak/hotel-booking-demand).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Datos y métricas: notebook 05_Prediccion_Cancelaciones_Hotel.ipynb ejecutado localmente.</a:t>
            </a:r>
          </a:p>
          <a:p xmlns:a="http://schemas.openxmlformats.org/drawingml/2006/main">
            <a:r>
              <a:t>Dataset: Kaggle, Hotel Booking Demand (https://www.kaggle.com/datasets/jessemostipak/hotel-booking-demand).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Datos y métricas: notebook 05_Prediccion_Cancelaciones_Hotel.ipynb ejecutado localmente.</a:t>
            </a:r>
          </a:p>
          <a:p xmlns:a="http://schemas.openxmlformats.org/drawingml/2006/main">
            <a:r>
              <a:t>Dataset: Kaggle, Hotel Booking Demand (https://www.kaggle.com/datasets/jessemostipak/hotel-booking-demand).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e580482be72482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8f88f2a373940a3" /><Relationship Type="http://schemas.openxmlformats.org/officeDocument/2006/relationships/slideLayout" Target="/ppt/slideLayouts/slideLayout1.xml" Id="R1432a9d802cb475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432a9d802cb475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a87517f6cd4132" /><Relationship Type="http://schemas.openxmlformats.org/officeDocument/2006/relationships/notesSlide" Target="/ppt/notesSlides/notesSlide1.xml" Id="R3e028d80e38f4b1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99109b8f884daa" /><Relationship Type="http://schemas.openxmlformats.org/officeDocument/2006/relationships/notesSlide" Target="/ppt/notesSlides/notesSlide2.xml" Id="R92af92af3458484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de67ab27e54ec1" /><Relationship Type="http://schemas.openxmlformats.org/officeDocument/2006/relationships/notesSlide" Target="/ppt/notesSlides/notesSlide3.xml" Id="Rf5c060cb1fb544c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ff0549af834b4f" /><Relationship Type="http://schemas.openxmlformats.org/officeDocument/2006/relationships/notesSlide" Target="/ppt/notesSlides/notesSlide4.xml" Id="Ra7125e2d2de84cd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0bdf1570664e59" /><Relationship Type="http://schemas.openxmlformats.org/officeDocument/2006/relationships/notesSlide" Target="/ppt/notesSlides/notesSlide5.xml" Id="R19148d16af1a4e0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ca26bb53ab439c" /><Relationship Type="http://schemas.openxmlformats.org/officeDocument/2006/relationships/notesSlide" Target="/ppt/notesSlides/notesSlide6.xml" Id="R0c4b3483b3de45f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014aba42464b9c" /><Relationship Type="http://schemas.openxmlformats.org/officeDocument/2006/relationships/notesSlide" Target="/ppt/notesSlides/notesSlide7.xml" Id="R7a4cbc621f5d4f5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b33c9c12664334" /><Relationship Type="http://schemas.openxmlformats.org/officeDocument/2006/relationships/notesSlide" Target="/ppt/notesSlides/notesSlide8.xml" Id="Rc8b3843cdfe64d2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D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EA76751-9D70-406E-8FFC-A74D213F3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0"/>
            <a:ext cx="3095625" cy="3095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E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BFE9DB-6491-4B77-9C68-419EE448F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143375"/>
            <a:ext cx="209550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9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F8122E-9E2A-4683-B2FC-FA1483218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4572000" cy="238125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6531AE"/>
                </a:solidFill>
              </a:defRPr>
            </a:pPr>
            <a:r>
              <a:rPr sz="1125" b="1">
                <a:solidFill>
                  <a:srgbClr val="6531AE"/>
                </a:solidFill>
              </a:rPr>
              <a:t>PROYECTO FINAL · MACHINE LEARNING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51612A-AF50-4439-861D-6284D4434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7000875" cy="1485900"/>
          </a:xfrm>
          <a:prstGeom xmlns:a="http://schemas.openxmlformats.org/drawingml/2006/main" prst="roundRect">
            <a:avLst>
              <a:gd name="adj" fmla="val 10256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275" b="1">
                <a:solidFill>
                  <a:srgbClr val="101B45"/>
                </a:solidFill>
              </a:defRPr>
            </a:pPr>
            <a:r>
              <a:rPr sz="4275" b="1">
                <a:solidFill>
                  <a:srgbClr val="101B45"/>
                </a:solidFill>
              </a:rPr>
              <a:t>Predicción de</a:t>
            </a:r>
          </a:p>
          <a:p xmlns:a="http://schemas.openxmlformats.org/drawingml/2006/main">
            <a:pPr>
              <a:defRPr sz="4275" b="1">
                <a:solidFill>
                  <a:srgbClr val="101B45"/>
                </a:solidFill>
              </a:defRPr>
            </a:pPr>
            <a:r>
              <a:rPr sz="4275" b="1">
                <a:solidFill>
                  <a:srgbClr val="101B45"/>
                </a:solidFill>
              </a:rPr>
              <a:t>cancelaciones hoteleras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7009DA-5808-4383-A211-C15EF34B2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67050"/>
            <a:ext cx="5715000" cy="552450"/>
          </a:xfrm>
          <a:prstGeom xmlns:a="http://schemas.openxmlformats.org/drawingml/2006/main" prst="roundRect">
            <a:avLst>
              <a:gd name="adj" fmla="val 27586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52617D"/>
                </a:solidFill>
              </a:defRPr>
            </a:pPr>
            <a:r>
              <a:rPr sz="1800">
                <a:solidFill>
                  <a:srgbClr val="52617D"/>
                </a:solidFill>
              </a:rPr>
              <a:t>Un modelo supervisado para priorizar reservas que requieren gestión preventiva.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A66F51-BCD1-43B3-9D84-2691A01FE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52875"/>
            <a:ext cx="1714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6531A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66CFDE-2F4F-4D1D-BF8B-A2F7B9684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19575"/>
            <a:ext cx="1905000" cy="238125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6531AE"/>
                </a:solidFill>
              </a:defRPr>
            </a:pPr>
            <a:r>
              <a:rPr sz="1200" b="1">
                <a:solidFill>
                  <a:srgbClr val="6531AE"/>
                </a:solidFill>
              </a:rPr>
              <a:t>Pregunta de negocio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3669A6-1AFE-4BF7-8AFC-A1DE9EF44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24375"/>
            <a:ext cx="5619750" cy="619125"/>
          </a:xfrm>
          <a:prstGeom xmlns:a="http://schemas.openxmlformats.org/drawingml/2006/main" prst="roundRect">
            <a:avLst>
              <a:gd name="adj" fmla="val 24615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4213D"/>
                </a:solidFill>
              </a:defRPr>
            </a:pPr>
            <a:r>
              <a:rPr sz="1575">
                <a:solidFill>
                  <a:srgbClr val="14213D"/>
                </a:solidFill>
              </a:rPr>
              <a:t>¿Podemos estimar, al momento de reservar, la probabilidad de cancelación para gestionar mejor la ocupación?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824DF8-5E01-4452-AB51-B80A93D47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428750"/>
            <a:ext cx="3238500" cy="3209925"/>
          </a:xfrm>
          <a:prstGeom xmlns:a="http://schemas.openxmlformats.org/drawingml/2006/main" prst="roundRect">
            <a:avLst>
              <a:gd name="adj" fmla="val 47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D1F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488C9B-62CC-48C9-917B-E5A7B005E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1838325"/>
            <a:ext cx="1714500" cy="2857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01B45"/>
                </a:solidFill>
              </a:defRPr>
            </a:pPr>
            <a:r>
              <a:rPr sz="1425" b="1">
                <a:solidFill>
                  <a:srgbClr val="101B45"/>
                </a:solidFill>
              </a:rPr>
              <a:t>Reserva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7A5960-8DE6-4897-AA6E-A971C929F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2276475"/>
            <a:ext cx="1666875" cy="2952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EDFF"/>
          </a:solidFill>
          <a:ln xmlns:a="http://schemas.openxmlformats.org/drawingml/2006/main" w="9525">
            <a:solidFill>
              <a:srgbClr val="6531A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BC6C50-3F56-42FC-B119-9761EE6A1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2343150"/>
            <a:ext cx="1514475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6531AE"/>
                </a:solidFill>
              </a:defRPr>
            </a:pPr>
            <a:r>
              <a:rPr sz="975" b="1">
                <a:solidFill>
                  <a:srgbClr val="6531AE"/>
                </a:solidFill>
              </a:rPr>
              <a:t>RIESGO ESTIMADO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69036A-4379-4F9B-B121-386A0FF62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705100"/>
            <a:ext cx="1809750" cy="695325"/>
          </a:xfrm>
          <a:prstGeom xmlns:a="http://schemas.openxmlformats.org/drawingml/2006/main" prst="roundRect">
            <a:avLst>
              <a:gd name="adj" fmla="val 21918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E83E66"/>
                </a:solidFill>
              </a:defRPr>
            </a:pPr>
            <a:r>
              <a:rPr sz="4350" b="1">
                <a:solidFill>
                  <a:srgbClr val="E83E66"/>
                </a:solidFill>
              </a:rPr>
              <a:t>72%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C1D52D2-F7EB-4B22-BCB2-96D8F9565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3495675"/>
            <a:ext cx="2143125" cy="514350"/>
          </a:xfrm>
          <a:prstGeom xmlns:a="http://schemas.openxmlformats.org/drawingml/2006/main" prst="roundRect">
            <a:avLst>
              <a:gd name="adj" fmla="val 2963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2617D"/>
                </a:solidFill>
              </a:defRPr>
            </a:pPr>
            <a:r>
              <a:rPr sz="1275">
                <a:solidFill>
                  <a:srgbClr val="52617D"/>
                </a:solidFill>
              </a:rPr>
              <a:t>Priorizar confirmación</a:t>
            </a:r>
          </a:p>
          <a:p xmlns:a="http://schemas.openxmlformats.org/drawingml/2006/main">
            <a:pPr>
              <a:defRPr sz="1275">
                <a:solidFill>
                  <a:srgbClr val="52617D"/>
                </a:solidFill>
              </a:defRPr>
            </a:pPr>
            <a:r>
              <a:rPr sz="1275">
                <a:solidFill>
                  <a:srgbClr val="52617D"/>
                </a:solidFill>
              </a:rPr>
              <a:t>y revisar condiciones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A27D92D-09E6-4EDC-BCBF-7CA36353C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096250" cy="1714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7A86A3"/>
                </a:solidFill>
              </a:defRPr>
            </a:pPr>
            <a:r>
              <a:rPr sz="750">
                <a:solidFill>
                  <a:srgbClr val="7A86A3"/>
                </a:solidFill>
              </a:rPr>
              <a:t>Proyecto final · Predicción de cancelaciones hoteleras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4F3A5DE-B46C-4E50-883A-4A72DFB9C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57950"/>
            <a:ext cx="3810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531AE"/>
                </a:solidFill>
              </a:defRPr>
            </a:pPr>
            <a:r>
              <a:rPr sz="900" b="1">
                <a:solidFill>
                  <a:srgbClr val="6531AE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40325631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D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itle">
            <a:extLst xmlns:a="http://schemas.openxmlformats.org/drawingml/2006/main">
              <a:ext uri="{FF2B5EF4-FFF2-40B4-BE49-F238E27FC236}">
                <a16:creationId xmlns:a16="http://schemas.microsoft.com/office/drawing/2014/main" id="{112F7A7C-A28B-4A91-A5F1-C956E204F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9525000" cy="533400"/>
          </a:xfrm>
          <a:prstGeom xmlns:a="http://schemas.openxmlformats.org/drawingml/2006/main" prst="roundRect">
            <a:avLst>
              <a:gd name="adj" fmla="val 2857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01B45"/>
                </a:solidFill>
              </a:defRPr>
            </a:pPr>
            <a:r>
              <a:rPr sz="2700" b="1">
                <a:solidFill>
                  <a:srgbClr val="101B45"/>
                </a:solidFill>
              </a:rPr>
              <a:t>El problema no es saber quién cancelará con certeza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9814681F-4DB9-4535-A73F-771174EFE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981075"/>
            <a:ext cx="10001250" cy="2857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2617D"/>
                </a:solidFill>
              </a:defRPr>
            </a:pPr>
            <a:r>
              <a:rPr sz="1275">
                <a:solidFill>
                  <a:srgbClr val="52617D"/>
                </a:solidFill>
              </a:rPr>
              <a:t>El objetivo es ordenar el riesgo para decidir dónde actuar primero.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B5BACDFD-1104-4F3A-8B79-97BFD502A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239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DF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AE4FB3-1E62-456B-BD37-CDD4FC4CA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81175"/>
            <a:ext cx="4905375" cy="3476625"/>
          </a:xfrm>
          <a:prstGeom xmlns:a="http://schemas.openxmlformats.org/drawingml/2006/main" prst="roundRect">
            <a:avLst>
              <a:gd name="adj" fmla="val 4384"/>
            </a:avLst>
          </a:prstGeom>
          <a:solidFill xmlns:a="http://schemas.openxmlformats.org/drawingml/2006/main">
            <a:srgbClr val="FFF0F4"/>
          </a:solidFill>
          <a:ln xmlns:a="http://schemas.openxmlformats.org/drawingml/2006/main" w="9525">
            <a:solidFill>
              <a:srgbClr val="F2B6C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051CD7-989D-4E10-8CFA-A1A8C7F1C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43125"/>
            <a:ext cx="2476500" cy="333375"/>
          </a:xfrm>
          <a:prstGeom xmlns:a="http://schemas.openxmlformats.org/drawingml/2006/main" prst="roundRect">
            <a:avLst>
              <a:gd name="adj" fmla="val 4571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E83E66"/>
                </a:solidFill>
              </a:defRPr>
            </a:pPr>
            <a:r>
              <a:rPr sz="1875" b="1">
                <a:solidFill>
                  <a:srgbClr val="E83E66"/>
                </a:solidFill>
              </a:rPr>
              <a:t>Sin modelo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090BBE-F775-4C07-9284-2FF9DE03B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676525"/>
            <a:ext cx="3829050" cy="685800"/>
          </a:xfrm>
          <a:prstGeom xmlns:a="http://schemas.openxmlformats.org/drawingml/2006/main" prst="roundRect">
            <a:avLst>
              <a:gd name="adj" fmla="val 22222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4213D"/>
                </a:solidFill>
              </a:defRPr>
            </a:pPr>
            <a:r>
              <a:rPr sz="1650">
                <a:solidFill>
                  <a:srgbClr val="14213D"/>
                </a:solidFill>
              </a:rPr>
              <a:t>Las reservas se gestionan igual, aunque algunas tengan señales de alto riesgo.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599902-0960-48BC-A17A-7DC8C1D2A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57625"/>
            <a:ext cx="3714750" cy="628650"/>
          </a:xfrm>
          <a:prstGeom xmlns:a="http://schemas.openxmlformats.org/drawingml/2006/main" prst="roundRect">
            <a:avLst>
              <a:gd name="adj" fmla="val 24242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2617D"/>
                </a:solidFill>
              </a:defRPr>
            </a:pPr>
            <a:r>
              <a:rPr sz="1425">
                <a:solidFill>
                  <a:srgbClr val="52617D"/>
                </a:solidFill>
              </a:rPr>
              <a:t>Resultado: acciones preventivas tardías o recursos repartidos sin priorización.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1F1E99-CCF2-4E89-929B-D752B9F3A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0725" y="3095625"/>
            <a:ext cx="723900" cy="628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531AE"/>
          </a:solidFill>
          <a:ln xmlns:a="http://schemas.openxmlformats.org/drawingml/2006/main" w="9525">
            <a:solidFill>
              <a:srgbClr val="6531A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D865AA-7760-4553-8405-94DC7FCD9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2275" y="1781175"/>
            <a:ext cx="4733925" cy="3476625"/>
          </a:xfrm>
          <a:prstGeom xmlns:a="http://schemas.openxmlformats.org/drawingml/2006/main" prst="roundRect">
            <a:avLst>
              <a:gd name="adj" fmla="val 4384"/>
            </a:avLst>
          </a:prstGeom>
          <a:solidFill xmlns:a="http://schemas.openxmlformats.org/drawingml/2006/main">
            <a:srgbClr val="EAF9F7"/>
          </a:solidFill>
          <a:ln xmlns:a="http://schemas.openxmlformats.org/drawingml/2006/main" w="9525">
            <a:solidFill>
              <a:srgbClr val="9CDBD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5CD8FF-DF2F-46B5-A8D3-EA0717F13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143125"/>
            <a:ext cx="2857500" cy="333375"/>
          </a:xfrm>
          <a:prstGeom xmlns:a="http://schemas.openxmlformats.org/drawingml/2006/main" prst="roundRect">
            <a:avLst>
              <a:gd name="adj" fmla="val 4571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08A83"/>
                </a:solidFill>
              </a:defRPr>
            </a:pPr>
            <a:r>
              <a:rPr sz="1875" b="1">
                <a:solidFill>
                  <a:srgbClr val="008A83"/>
                </a:solidFill>
              </a:rPr>
              <a:t>Con el modelo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03EF63-32F8-430B-BC03-E403F07D5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676525"/>
            <a:ext cx="3714750" cy="685800"/>
          </a:xfrm>
          <a:prstGeom xmlns:a="http://schemas.openxmlformats.org/drawingml/2006/main" prst="roundRect">
            <a:avLst>
              <a:gd name="adj" fmla="val 22222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4213D"/>
                </a:solidFill>
              </a:defRPr>
            </a:pPr>
            <a:r>
              <a:rPr sz="1650">
                <a:solidFill>
                  <a:srgbClr val="14213D"/>
                </a:solidFill>
              </a:rPr>
              <a:t>Cada reserva recibe una probabilidad y se gestiona según su nivel de riesgo.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695696-F1FD-45C0-B646-8ABF07304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857625"/>
            <a:ext cx="3810000" cy="638175"/>
          </a:xfrm>
          <a:prstGeom xmlns:a="http://schemas.openxmlformats.org/drawingml/2006/main" prst="roundRect">
            <a:avLst>
              <a:gd name="adj" fmla="val 2388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2617D"/>
                </a:solidFill>
              </a:defRPr>
            </a:pPr>
            <a:r>
              <a:rPr sz="1425">
                <a:solidFill>
                  <a:srgbClr val="52617D"/>
                </a:solidFill>
              </a:rPr>
              <a:t>Resultado: confirmaciones, recordatorios o revisión de garantía enfocados en los casos relevantes.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6052A5-13F3-4A77-BDFF-514B03E45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096250" cy="1714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7A86A3"/>
                </a:solidFill>
              </a:defRPr>
            </a:pPr>
            <a:r>
              <a:rPr sz="750">
                <a:solidFill>
                  <a:srgbClr val="7A86A3"/>
                </a:solidFill>
              </a:rPr>
              <a:t>Proyecto final · Predicción de cancelaciones hoteleras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273771A-8D95-41FA-B647-E0D8990C1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57950"/>
            <a:ext cx="3810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531AE"/>
                </a:solidFill>
              </a:defRPr>
            </a:pPr>
            <a:r>
              <a:rPr sz="900" b="1">
                <a:solidFill>
                  <a:srgbClr val="6531AE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37900814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D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title">
            <a:extLst xmlns:a="http://schemas.openxmlformats.org/drawingml/2006/main">
              <a:ext uri="{FF2B5EF4-FFF2-40B4-BE49-F238E27FC236}">
                <a16:creationId xmlns:a16="http://schemas.microsoft.com/office/drawing/2014/main" id="{1EA5141F-1436-4F62-92E9-231561AC5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9525000" cy="533400"/>
          </a:xfrm>
          <a:prstGeom xmlns:a="http://schemas.openxmlformats.org/drawingml/2006/main" prst="roundRect">
            <a:avLst>
              <a:gd name="adj" fmla="val 2857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01B45"/>
                </a:solidFill>
              </a:defRPr>
            </a:pPr>
            <a:r>
              <a:rPr sz="2700" b="1">
                <a:solidFill>
                  <a:srgbClr val="101B45"/>
                </a:solidFill>
              </a:rPr>
              <a:t>La base reúne 119.390 reservas y 32 variables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FA6F6473-036F-4FD7-8993-C2BF5DB16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981075"/>
            <a:ext cx="10001250" cy="2857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2617D"/>
                </a:solidFill>
              </a:defRPr>
            </a:pPr>
            <a:r>
              <a:rPr sz="1275">
                <a:solidFill>
                  <a:srgbClr val="52617D"/>
                </a:solidFill>
              </a:rPr>
              <a:t>El caso representa reservas de hotel; no contiene identificadores personales.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AB456BE9-9F46-41F3-9D81-E32012B26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239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DF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180A74-B014-4ED1-A404-B01BD30BE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2238375" cy="1190625"/>
          </a:xfrm>
          <a:prstGeom xmlns:a="http://schemas.openxmlformats.org/drawingml/2006/main" prst="roundRect">
            <a:avLst>
              <a:gd name="adj" fmla="val 12800"/>
            </a:avLst>
          </a:prstGeom>
          <a:solidFill xmlns:a="http://schemas.openxmlformats.org/drawingml/2006/main">
            <a:srgbClr val="F4EDFF"/>
          </a:solidFill>
          <a:ln xmlns:a="http://schemas.openxmlformats.org/drawingml/2006/main" w="9525">
            <a:solidFill>
              <a:srgbClr val="D9D1F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4C3B1E-35F4-45E2-8CF4-A07C21F79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43100"/>
            <a:ext cx="1905000" cy="409575"/>
          </a:xfrm>
          <a:prstGeom xmlns:a="http://schemas.openxmlformats.org/drawingml/2006/main" prst="roundRect">
            <a:avLst>
              <a:gd name="adj" fmla="val 3720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6531AE"/>
                </a:solidFill>
              </a:defRPr>
            </a:pPr>
            <a:r>
              <a:rPr sz="2325" b="1">
                <a:solidFill>
                  <a:srgbClr val="6531AE"/>
                </a:solidFill>
              </a:rPr>
              <a:t>119.390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230558-53E6-404B-86D5-E37014412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66975"/>
            <a:ext cx="1905000" cy="2286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52617D"/>
                </a:solidFill>
              </a:defRPr>
            </a:pPr>
            <a:r>
              <a:rPr sz="1125">
                <a:solidFill>
                  <a:srgbClr val="52617D"/>
                </a:solidFill>
              </a:rPr>
              <a:t>reservas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7D3702-2A0D-41CD-AF5B-60E4F8279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714500"/>
            <a:ext cx="2238375" cy="1190625"/>
          </a:xfrm>
          <a:prstGeom xmlns:a="http://schemas.openxmlformats.org/drawingml/2006/main" prst="roundRect">
            <a:avLst>
              <a:gd name="adj" fmla="val 12800"/>
            </a:avLst>
          </a:prstGeom>
          <a:solidFill xmlns:a="http://schemas.openxmlformats.org/drawingml/2006/main">
            <a:srgbClr val="F4EDFF"/>
          </a:solidFill>
          <a:ln xmlns:a="http://schemas.openxmlformats.org/drawingml/2006/main" w="9525">
            <a:solidFill>
              <a:srgbClr val="D9D1F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D6E973-D5DD-44FA-9AD5-A7F07718C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1943100"/>
            <a:ext cx="1905000" cy="409575"/>
          </a:xfrm>
          <a:prstGeom xmlns:a="http://schemas.openxmlformats.org/drawingml/2006/main" prst="roundRect">
            <a:avLst>
              <a:gd name="adj" fmla="val 3720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6531AE"/>
                </a:solidFill>
              </a:defRPr>
            </a:pPr>
            <a:r>
              <a:rPr sz="2325" b="1">
                <a:solidFill>
                  <a:srgbClr val="6531AE"/>
                </a:solidFill>
              </a:rPr>
              <a:t>32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269E38-BE7D-4D29-8C18-1AC95D7B6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466975"/>
            <a:ext cx="1905000" cy="2286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52617D"/>
                </a:solidFill>
              </a:defRPr>
            </a:pPr>
            <a:r>
              <a:rPr sz="1125">
                <a:solidFill>
                  <a:srgbClr val="52617D"/>
                </a:solidFill>
              </a:rPr>
              <a:t>variables originales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1CFD52-627C-4F5B-9EF0-B04FC4EEB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714500"/>
            <a:ext cx="2238375" cy="1190625"/>
          </a:xfrm>
          <a:prstGeom xmlns:a="http://schemas.openxmlformats.org/drawingml/2006/main" prst="roundRect">
            <a:avLst>
              <a:gd name="adj" fmla="val 12800"/>
            </a:avLst>
          </a:prstGeom>
          <a:solidFill xmlns:a="http://schemas.openxmlformats.org/drawingml/2006/main">
            <a:srgbClr val="FFF0F4"/>
          </a:solidFill>
          <a:ln xmlns:a="http://schemas.openxmlformats.org/drawingml/2006/main" w="9525">
            <a:solidFill>
              <a:srgbClr val="F2B6C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FF1C74-B44E-402F-A4C4-C65FF6FAA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943100"/>
            <a:ext cx="1905000" cy="409575"/>
          </a:xfrm>
          <a:prstGeom xmlns:a="http://schemas.openxmlformats.org/drawingml/2006/main" prst="roundRect">
            <a:avLst>
              <a:gd name="adj" fmla="val 3720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E83E66"/>
                </a:solidFill>
              </a:defRPr>
            </a:pPr>
            <a:r>
              <a:rPr sz="2325" b="1">
                <a:solidFill>
                  <a:srgbClr val="E83E66"/>
                </a:solidFill>
              </a:rPr>
              <a:t>37,0%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A8343B-BBA2-41A3-AC9D-D8BF91DF4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466975"/>
            <a:ext cx="1905000" cy="2286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52617D"/>
                </a:solidFill>
              </a:defRPr>
            </a:pPr>
            <a:r>
              <a:rPr sz="1125">
                <a:solidFill>
                  <a:srgbClr val="52617D"/>
                </a:solidFill>
              </a:rPr>
              <a:t>canceladas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D4B3F6-9C9B-4486-9E43-042953578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714500"/>
            <a:ext cx="2238375" cy="1190625"/>
          </a:xfrm>
          <a:prstGeom xmlns:a="http://schemas.openxmlformats.org/drawingml/2006/main" prst="roundRect">
            <a:avLst>
              <a:gd name="adj" fmla="val 12800"/>
            </a:avLst>
          </a:prstGeom>
          <a:solidFill xmlns:a="http://schemas.openxmlformats.org/drawingml/2006/main">
            <a:srgbClr val="F4EDFF"/>
          </a:solidFill>
          <a:ln xmlns:a="http://schemas.openxmlformats.org/drawingml/2006/main" w="9525">
            <a:solidFill>
              <a:srgbClr val="D9D1F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A3F30C-20FD-4882-99AD-7875602FC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1943100"/>
            <a:ext cx="1905000" cy="409575"/>
          </a:xfrm>
          <a:prstGeom xmlns:a="http://schemas.openxmlformats.org/drawingml/2006/main" prst="roundRect">
            <a:avLst>
              <a:gd name="adj" fmla="val 3720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6531AE"/>
                </a:solidFill>
              </a:defRPr>
            </a:pPr>
            <a:r>
              <a:rPr sz="2325" b="1">
                <a:solidFill>
                  <a:srgbClr val="6531AE"/>
                </a:solidFill>
              </a:rPr>
              <a:t>2015–2017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3032A02-2125-4A33-8EF3-629CCAAB3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466975"/>
            <a:ext cx="1905000" cy="2286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52617D"/>
                </a:solidFill>
              </a:defRPr>
            </a:pPr>
            <a:r>
              <a:rPr sz="1125">
                <a:solidFill>
                  <a:srgbClr val="52617D"/>
                </a:solidFill>
              </a:rPr>
              <a:t>periodo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6B2DD02-276B-437D-9222-61EE404BF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4000500" cy="3048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01B45"/>
                </a:solidFill>
              </a:defRPr>
            </a:pPr>
            <a:r>
              <a:rPr sz="1800" b="1">
                <a:solidFill>
                  <a:srgbClr val="101B45"/>
                </a:solidFill>
              </a:rPr>
              <a:t>Variables disponibles al reservar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7454C94-8AEF-4263-99D5-289F1C030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57625"/>
            <a:ext cx="1352550" cy="2952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EDFF"/>
          </a:solidFill>
          <a:ln xmlns:a="http://schemas.openxmlformats.org/drawingml/2006/main" w="9525">
            <a:solidFill>
              <a:srgbClr val="6531A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F8F068B-15B2-495A-9468-98C738995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24300"/>
            <a:ext cx="12001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6531AE"/>
                </a:solidFill>
              </a:defRPr>
            </a:pPr>
            <a:r>
              <a:rPr sz="975" b="1">
                <a:solidFill>
                  <a:srgbClr val="6531AE"/>
                </a:solidFill>
              </a:rPr>
              <a:t>Anticipación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AD3FDDF-9F9C-4615-9891-72903268E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924300"/>
            <a:ext cx="1790700" cy="200025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4213D"/>
                </a:solidFill>
              </a:defRPr>
            </a:pPr>
            <a:r>
              <a:rPr sz="1200">
                <a:solidFill>
                  <a:srgbClr val="14213D"/>
                </a:solidFill>
              </a:rPr>
              <a:t>lead time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9943ED0-F4D9-4FAE-BFE2-17F66C795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857625"/>
            <a:ext cx="1352550" cy="2952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F6FF"/>
          </a:solidFill>
          <a:ln xmlns:a="http://schemas.openxmlformats.org/drawingml/2006/main" w="9525">
            <a:solidFill>
              <a:srgbClr val="1769C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90E7DC3-6E35-44CF-A6F6-4255A2FDA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924300"/>
            <a:ext cx="12001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769C2"/>
                </a:solidFill>
              </a:defRPr>
            </a:pPr>
            <a:r>
              <a:rPr sz="975" b="1">
                <a:solidFill>
                  <a:srgbClr val="1769C2"/>
                </a:solidFill>
              </a:rPr>
              <a:t>Estadía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84630DE-1B3A-425E-BB23-3EC8D353A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3924300"/>
            <a:ext cx="1790700" cy="200025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4213D"/>
                </a:solidFill>
              </a:defRPr>
            </a:pPr>
            <a:r>
              <a:rPr sz="1200">
                <a:solidFill>
                  <a:srgbClr val="14213D"/>
                </a:solidFill>
              </a:rPr>
              <a:t>noches y fecha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39723C9-A800-46E2-9EFE-9E6C2D7B3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857625"/>
            <a:ext cx="1352550" cy="2952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9F7"/>
          </a:solidFill>
          <a:ln xmlns:a="http://schemas.openxmlformats.org/drawingml/2006/main" w="9525">
            <a:solidFill>
              <a:srgbClr val="008A8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6E22271-521F-4157-9AA2-050F32C02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924300"/>
            <a:ext cx="12001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08A83"/>
                </a:solidFill>
              </a:defRPr>
            </a:pPr>
            <a:r>
              <a:rPr sz="975" b="1">
                <a:solidFill>
                  <a:srgbClr val="008A83"/>
                </a:solidFill>
              </a:rPr>
              <a:t>Canal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73491CC-5EAA-400D-BF69-4005B349F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924300"/>
            <a:ext cx="1790700" cy="200025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4213D"/>
                </a:solidFill>
              </a:defRPr>
            </a:pPr>
            <a:r>
              <a:rPr sz="1200">
                <a:solidFill>
                  <a:srgbClr val="14213D"/>
                </a:solidFill>
              </a:rPr>
              <a:t>segmento y distribución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5C735A5-AC13-4380-BD25-3A1D2841E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52975"/>
            <a:ext cx="1352550" cy="2952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F9EA"/>
          </a:solidFill>
          <a:ln xmlns:a="http://schemas.openxmlformats.org/drawingml/2006/main" w="9525">
            <a:solidFill>
              <a:srgbClr val="4E9A1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3AFE0FE-FA9D-4B09-840B-95666A3B8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19650"/>
            <a:ext cx="12001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4E9A1A"/>
                </a:solidFill>
              </a:defRPr>
            </a:pPr>
            <a:r>
              <a:rPr sz="975" b="1">
                <a:solidFill>
                  <a:srgbClr val="4E9A1A"/>
                </a:solidFill>
              </a:rPr>
              <a:t>Condiciones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FF0BF85-8F46-4D35-9239-DAF8FD0DD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819650"/>
            <a:ext cx="1790700" cy="200025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4213D"/>
                </a:solidFill>
              </a:defRPr>
            </a:pPr>
            <a:r>
              <a:rPr sz="1200">
                <a:solidFill>
                  <a:srgbClr val="14213D"/>
                </a:solidFill>
              </a:rPr>
              <a:t>depósito y tipo de cliente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3229452-77DC-4CD2-A5F3-F4397745F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4752975"/>
            <a:ext cx="1352550" cy="2952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7E2"/>
          </a:solidFill>
          <a:ln xmlns:a="http://schemas.openxmlformats.org/drawingml/2006/main" w="9525">
            <a:solidFill>
              <a:srgbClr val="D89B00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4EFF55A-6125-4B7E-8155-A7BFF2924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819650"/>
            <a:ext cx="12001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D89B00"/>
                </a:solidFill>
              </a:defRPr>
            </a:pPr>
            <a:r>
              <a:rPr sz="975" b="1">
                <a:solidFill>
                  <a:srgbClr val="D89B00"/>
                </a:solidFill>
              </a:rPr>
              <a:t>Precio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998540E-A3B0-4777-8B6B-E1721B9A3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4819650"/>
            <a:ext cx="1790700" cy="200025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4213D"/>
                </a:solidFill>
              </a:defRPr>
            </a:pPr>
            <a:r>
              <a:rPr sz="1200">
                <a:solidFill>
                  <a:srgbClr val="14213D"/>
                </a:solidFill>
              </a:rPr>
              <a:t>ADR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6BA4FB2-8EC8-41F9-9D0E-86B034A29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72150"/>
            <a:ext cx="6667500" cy="2667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01B45"/>
                </a:solidFill>
              </a:defRPr>
            </a:pPr>
            <a:r>
              <a:rPr sz="1350" b="1">
                <a:solidFill>
                  <a:srgbClr val="101B45"/>
                </a:solidFill>
              </a:rPr>
              <a:t>Variable objetivo: is_canceled (1 = canceló, 0 = no canceló).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30B236B-5294-4568-AB73-54079FC50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096250" cy="1714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7A86A3"/>
                </a:solidFill>
              </a:defRPr>
            </a:pPr>
            <a:r>
              <a:rPr sz="750">
                <a:solidFill>
                  <a:srgbClr val="7A86A3"/>
                </a:solidFill>
              </a:rPr>
              <a:t>Proyecto final · Predicción de cancelaciones hoteleras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8584306-3463-4972-88FE-B70097175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57950"/>
            <a:ext cx="3810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531AE"/>
                </a:solidFill>
              </a:defRPr>
            </a:pPr>
            <a:r>
              <a:rPr sz="900" b="1">
                <a:solidFill>
                  <a:srgbClr val="6531AE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80655778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D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title">
            <a:extLst xmlns:a="http://schemas.openxmlformats.org/drawingml/2006/main">
              <a:ext uri="{FF2B5EF4-FFF2-40B4-BE49-F238E27FC236}">
                <a16:creationId xmlns:a16="http://schemas.microsoft.com/office/drawing/2014/main" id="{03C4AFFA-AEB1-4728-A912-D01FA72B9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9525000" cy="533400"/>
          </a:xfrm>
          <a:prstGeom xmlns:a="http://schemas.openxmlformats.org/drawingml/2006/main" prst="roundRect">
            <a:avLst>
              <a:gd name="adj" fmla="val 2857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01B45"/>
                </a:solidFill>
              </a:defRPr>
            </a:pPr>
            <a:r>
              <a:rPr sz="2700" b="1">
                <a:solidFill>
                  <a:srgbClr val="101B45"/>
                </a:solidFill>
              </a:rPr>
              <a:t>Flujo de trabajo del modelo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73FBF421-8894-4833-BC0D-0F4F8179E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981075"/>
            <a:ext cx="10001250" cy="2857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2617D"/>
                </a:solidFill>
              </a:defRPr>
            </a:pPr>
            <a:r>
              <a:rPr sz="1275">
                <a:solidFill>
                  <a:srgbClr val="52617D"/>
                </a:solidFill>
              </a:rPr>
              <a:t>Desde los datos crudos hasta una predicción utilizable en una página local.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3A89581B-BF02-4038-8C18-5C03B9F78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239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DF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54E11B-C5AB-42B2-A94C-47810516F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5048250" cy="809625"/>
          </a:xfrm>
          <a:prstGeom xmlns:a="http://schemas.openxmlformats.org/drawingml/2006/main" prst="roundRect">
            <a:avLst>
              <a:gd name="adj" fmla="val 18824"/>
            </a:avLst>
          </a:prstGeom>
          <a:solidFill xmlns:a="http://schemas.openxmlformats.org/drawingml/2006/main">
            <a:srgbClr val="F4EDFF"/>
          </a:solidFill>
          <a:ln xmlns:a="http://schemas.openxmlformats.org/drawingml/2006/main" w="9525">
            <a:solidFill>
              <a:srgbClr val="6531A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CBE759-F1A7-40AE-9F4D-745812C78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19275"/>
            <a:ext cx="409575" cy="409575"/>
          </a:xfrm>
          <a:prstGeom xmlns:a="http://schemas.openxmlformats.org/drawingml/2006/main" prst="roundRect">
            <a:avLst>
              <a:gd name="adj" fmla="val 37209"/>
            </a:avLst>
          </a:prstGeom>
          <a:solidFill xmlns:a="http://schemas.openxmlformats.org/drawingml/2006/main">
            <a:srgbClr val="6531AE"/>
          </a:solidFill>
          <a:ln xmlns:a="http://schemas.openxmlformats.org/drawingml/2006/main" w="9525">
            <a:solidFill>
              <a:srgbClr val="6531A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C5F545-E659-43F0-B43F-11865C33C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95475"/>
            <a:ext cx="409575" cy="2667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5B574A-5C3D-4560-8A63-419C62CC5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1781175"/>
            <a:ext cx="2476500" cy="257175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6531AE"/>
                </a:solidFill>
              </a:defRPr>
            </a:pPr>
            <a:r>
              <a:rPr sz="1575" b="1">
                <a:solidFill>
                  <a:srgbClr val="6531AE"/>
                </a:solidFill>
              </a:rPr>
              <a:t>Comprensión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B60DCE-0570-4E80-A93C-9C913F52D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2066925"/>
            <a:ext cx="4000500" cy="2095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14213D"/>
                </a:solidFill>
              </a:defRPr>
            </a:pPr>
            <a:r>
              <a:rPr sz="1050">
                <a:solidFill>
                  <a:srgbClr val="14213D"/>
                </a:solidFill>
              </a:rPr>
              <a:t>Variables, nulos y distribución de cancelaciones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8AC365-4F3A-4D1E-A147-AAFA25DBF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1619250"/>
            <a:ext cx="5048250" cy="809625"/>
          </a:xfrm>
          <a:prstGeom xmlns:a="http://schemas.openxmlformats.org/drawingml/2006/main" prst="roundRect">
            <a:avLst>
              <a:gd name="adj" fmla="val 18824"/>
            </a:avLst>
          </a:prstGeom>
          <a:solidFill xmlns:a="http://schemas.openxmlformats.org/drawingml/2006/main">
            <a:srgbClr val="EEF6FF"/>
          </a:solidFill>
          <a:ln xmlns:a="http://schemas.openxmlformats.org/drawingml/2006/main" w="9525">
            <a:solidFill>
              <a:srgbClr val="1769C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93B99D-11FA-4E2B-ADC7-1870E8F82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1819275"/>
            <a:ext cx="409575" cy="409575"/>
          </a:xfrm>
          <a:prstGeom xmlns:a="http://schemas.openxmlformats.org/drawingml/2006/main" prst="roundRect">
            <a:avLst>
              <a:gd name="adj" fmla="val 37209"/>
            </a:avLst>
          </a:prstGeom>
          <a:solidFill xmlns:a="http://schemas.openxmlformats.org/drawingml/2006/main">
            <a:srgbClr val="1769C2"/>
          </a:solidFill>
          <a:ln xmlns:a="http://schemas.openxmlformats.org/drawingml/2006/main" w="9525">
            <a:solidFill>
              <a:srgbClr val="1769C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813B87-616F-4FB4-BA4A-76FFABBCD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1895475"/>
            <a:ext cx="409575" cy="2667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5F80AF-268F-4BA0-A6C7-DF24876BD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1781175"/>
            <a:ext cx="2476500" cy="257175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769C2"/>
                </a:solidFill>
              </a:defRPr>
            </a:pPr>
            <a:r>
              <a:rPr sz="1575" b="1">
                <a:solidFill>
                  <a:srgbClr val="1769C2"/>
                </a:solidFill>
              </a:rPr>
              <a:t>Preparación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6E39919-BA1D-4C13-BDAF-F4A43BB99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066925"/>
            <a:ext cx="4000500" cy="2095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14213D"/>
                </a:solidFill>
              </a:defRPr>
            </a:pPr>
            <a:r>
              <a:rPr sz="1050">
                <a:solidFill>
                  <a:srgbClr val="14213D"/>
                </a:solidFill>
              </a:rPr>
              <a:t>Imputar nulos, codificar categorías y escalar numéricas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36C31D4-3C40-46AE-A3DA-9F1DBD2EE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86050"/>
            <a:ext cx="5048250" cy="809625"/>
          </a:xfrm>
          <a:prstGeom xmlns:a="http://schemas.openxmlformats.org/drawingml/2006/main" prst="roundRect">
            <a:avLst>
              <a:gd name="adj" fmla="val 18824"/>
            </a:avLst>
          </a:prstGeom>
          <a:solidFill xmlns:a="http://schemas.openxmlformats.org/drawingml/2006/main">
            <a:srgbClr val="EAF9F7"/>
          </a:solidFill>
          <a:ln xmlns:a="http://schemas.openxmlformats.org/drawingml/2006/main" w="9525">
            <a:solidFill>
              <a:srgbClr val="008A8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DDE5E34-9DD3-46E8-978A-0D8A59704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86075"/>
            <a:ext cx="409575" cy="409575"/>
          </a:xfrm>
          <a:prstGeom xmlns:a="http://schemas.openxmlformats.org/drawingml/2006/main" prst="roundRect">
            <a:avLst>
              <a:gd name="adj" fmla="val 37209"/>
            </a:avLst>
          </a:prstGeom>
          <a:solidFill xmlns:a="http://schemas.openxmlformats.org/drawingml/2006/main">
            <a:srgbClr val="008A83"/>
          </a:solidFill>
          <a:ln xmlns:a="http://schemas.openxmlformats.org/drawingml/2006/main" w="9525">
            <a:solidFill>
              <a:srgbClr val="008A8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81D1822-C5F2-4B85-826B-091B2D5D0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62275"/>
            <a:ext cx="409575" cy="2667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3C52893-5F41-4371-8161-B3418763B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2847975"/>
            <a:ext cx="2476500" cy="257175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08A83"/>
                </a:solidFill>
              </a:defRPr>
            </a:pPr>
            <a:r>
              <a:rPr sz="1575" b="1">
                <a:solidFill>
                  <a:srgbClr val="008A83"/>
                </a:solidFill>
              </a:rPr>
              <a:t>Sin fuga de datos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6C536F5-6909-434E-B167-ED1AEC941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3133725"/>
            <a:ext cx="4000500" cy="2095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14213D"/>
                </a:solidFill>
              </a:defRPr>
            </a:pPr>
            <a:r>
              <a:rPr sz="1050">
                <a:solidFill>
                  <a:srgbClr val="14213D"/>
                </a:solidFill>
              </a:rPr>
              <a:t>Excluir estado final, fecha de estado y cambios posteriores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9939D69-CA46-49D2-9D63-67BCFE3B5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686050"/>
            <a:ext cx="5048250" cy="809625"/>
          </a:xfrm>
          <a:prstGeom xmlns:a="http://schemas.openxmlformats.org/drawingml/2006/main" prst="roundRect">
            <a:avLst>
              <a:gd name="adj" fmla="val 18824"/>
            </a:avLst>
          </a:prstGeom>
          <a:solidFill xmlns:a="http://schemas.openxmlformats.org/drawingml/2006/main">
            <a:srgbClr val="F2F9EA"/>
          </a:solidFill>
          <a:ln xmlns:a="http://schemas.openxmlformats.org/drawingml/2006/main" w="9525">
            <a:solidFill>
              <a:srgbClr val="4E9A1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3E7B14D-9BAE-4D67-961B-321CFA535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886075"/>
            <a:ext cx="409575" cy="409575"/>
          </a:xfrm>
          <a:prstGeom xmlns:a="http://schemas.openxmlformats.org/drawingml/2006/main" prst="roundRect">
            <a:avLst>
              <a:gd name="adj" fmla="val 37209"/>
            </a:avLst>
          </a:prstGeom>
          <a:solidFill xmlns:a="http://schemas.openxmlformats.org/drawingml/2006/main">
            <a:srgbClr val="4E9A1A"/>
          </a:solidFill>
          <a:ln xmlns:a="http://schemas.openxmlformats.org/drawingml/2006/main" w="9525">
            <a:solidFill>
              <a:srgbClr val="4E9A1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D430C2C-9CEA-42EB-AB29-8F58C1C1C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962275"/>
            <a:ext cx="409575" cy="2667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22230B2-2DD0-47F5-8CF7-30F060377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847975"/>
            <a:ext cx="2476500" cy="257175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4E9A1A"/>
                </a:solidFill>
              </a:defRPr>
            </a:pPr>
            <a:r>
              <a:rPr sz="1575" b="1">
                <a:solidFill>
                  <a:srgbClr val="4E9A1A"/>
                </a:solidFill>
              </a:rPr>
              <a:t>División temporal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09A5441-E00D-4245-8A47-1013BC751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133725"/>
            <a:ext cx="4000500" cy="2095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14213D"/>
                </a:solidFill>
              </a:defRPr>
            </a:pPr>
            <a:r>
              <a:rPr sz="1050">
                <a:solidFill>
                  <a:srgbClr val="14213D"/>
                </a:solidFill>
              </a:rPr>
              <a:t>Entrenar 2015–2016 y evaluar en 2017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0FBABFE-8100-4FCB-865B-FC190FF4C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52850"/>
            <a:ext cx="5048250" cy="809625"/>
          </a:xfrm>
          <a:prstGeom xmlns:a="http://schemas.openxmlformats.org/drawingml/2006/main" prst="roundRect">
            <a:avLst>
              <a:gd name="adj" fmla="val 18824"/>
            </a:avLst>
          </a:prstGeom>
          <a:solidFill xmlns:a="http://schemas.openxmlformats.org/drawingml/2006/main">
            <a:srgbClr val="FFF7E2"/>
          </a:solidFill>
          <a:ln xmlns:a="http://schemas.openxmlformats.org/drawingml/2006/main" w="9525">
            <a:solidFill>
              <a:srgbClr val="D89B0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2FAAF20-EC8A-4147-9430-E80EA2DD2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52875"/>
            <a:ext cx="409575" cy="409575"/>
          </a:xfrm>
          <a:prstGeom xmlns:a="http://schemas.openxmlformats.org/drawingml/2006/main" prst="roundRect">
            <a:avLst>
              <a:gd name="adj" fmla="val 37209"/>
            </a:avLst>
          </a:prstGeom>
          <a:solidFill xmlns:a="http://schemas.openxmlformats.org/drawingml/2006/main">
            <a:srgbClr val="D89B00"/>
          </a:solidFill>
          <a:ln xmlns:a="http://schemas.openxmlformats.org/drawingml/2006/main" w="9525">
            <a:solidFill>
              <a:srgbClr val="D89B0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14DB0A0-B25C-4798-808E-0435CD4B0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29075"/>
            <a:ext cx="409575" cy="2667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ED3848D-76E8-4AA0-9B30-9A4692C37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3914775"/>
            <a:ext cx="2476500" cy="257175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D89B00"/>
                </a:solidFill>
              </a:defRPr>
            </a:pPr>
            <a:r>
              <a:rPr sz="1575" b="1">
                <a:solidFill>
                  <a:srgbClr val="D89B00"/>
                </a:solidFill>
              </a:rPr>
              <a:t>Entrenamiento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BC92671-CA9E-4E8E-988E-4AEC46386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4200525"/>
            <a:ext cx="4000500" cy="2095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14213D"/>
                </a:solidFill>
              </a:defRPr>
            </a:pPr>
            <a:r>
              <a:rPr sz="1050">
                <a:solidFill>
                  <a:srgbClr val="14213D"/>
                </a:solidFill>
              </a:rPr>
              <a:t>Regresión Logística y Random Forest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37C620D-C11F-4F12-B195-5F8458660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752850"/>
            <a:ext cx="5048250" cy="809625"/>
          </a:xfrm>
          <a:prstGeom xmlns:a="http://schemas.openxmlformats.org/drawingml/2006/main" prst="roundRect">
            <a:avLst>
              <a:gd name="adj" fmla="val 18824"/>
            </a:avLst>
          </a:prstGeom>
          <a:solidFill xmlns:a="http://schemas.openxmlformats.org/drawingml/2006/main">
            <a:srgbClr val="FFF0F4"/>
          </a:solidFill>
          <a:ln xmlns:a="http://schemas.openxmlformats.org/drawingml/2006/main" w="9525">
            <a:solidFill>
              <a:srgbClr val="E83E66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A96156B-86A2-422C-B0D0-ED4DE2F81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3952875"/>
            <a:ext cx="409575" cy="409575"/>
          </a:xfrm>
          <a:prstGeom xmlns:a="http://schemas.openxmlformats.org/drawingml/2006/main" prst="roundRect">
            <a:avLst>
              <a:gd name="adj" fmla="val 37209"/>
            </a:avLst>
          </a:prstGeom>
          <a:solidFill xmlns:a="http://schemas.openxmlformats.org/drawingml/2006/main">
            <a:srgbClr val="E83E66"/>
          </a:solidFill>
          <a:ln xmlns:a="http://schemas.openxmlformats.org/drawingml/2006/main" w="9525">
            <a:solidFill>
              <a:srgbClr val="E83E66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9C59520-B93B-4006-96EB-0D6688F12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4029075"/>
            <a:ext cx="409575" cy="2667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23F612B-7284-4DE5-B8CF-69107007D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914775"/>
            <a:ext cx="2476500" cy="257175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E83E66"/>
                </a:solidFill>
              </a:defRPr>
            </a:pPr>
            <a:r>
              <a:rPr sz="1575" b="1">
                <a:solidFill>
                  <a:srgbClr val="E83E66"/>
                </a:solidFill>
              </a:rPr>
              <a:t>Evaluación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4877F96-D6FE-4BD4-AA9C-2B73AFB9C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200525"/>
            <a:ext cx="4000500" cy="2095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14213D"/>
                </a:solidFill>
              </a:defRPr>
            </a:pPr>
            <a:r>
              <a:rPr sz="1050">
                <a:solidFill>
                  <a:srgbClr val="14213D"/>
                </a:solidFill>
              </a:rPr>
              <a:t>Precision, recall, F1, ROC-AUC y matriz de confusión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237B572-D02F-4E6E-8A82-07FEB4807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19650"/>
            <a:ext cx="5048250" cy="809625"/>
          </a:xfrm>
          <a:prstGeom xmlns:a="http://schemas.openxmlformats.org/drawingml/2006/main" prst="roundRect">
            <a:avLst>
              <a:gd name="adj" fmla="val 18824"/>
            </a:avLst>
          </a:prstGeom>
          <a:solidFill xmlns:a="http://schemas.openxmlformats.org/drawingml/2006/main">
            <a:srgbClr val="F4EDFF"/>
          </a:solidFill>
          <a:ln xmlns:a="http://schemas.openxmlformats.org/drawingml/2006/main" w="9525">
            <a:solidFill>
              <a:srgbClr val="6531AE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A627C7D-FBA7-4AE8-A55D-2B042F205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019675"/>
            <a:ext cx="409575" cy="409575"/>
          </a:xfrm>
          <a:prstGeom xmlns:a="http://schemas.openxmlformats.org/drawingml/2006/main" prst="roundRect">
            <a:avLst>
              <a:gd name="adj" fmla="val 37209"/>
            </a:avLst>
          </a:prstGeom>
          <a:solidFill xmlns:a="http://schemas.openxmlformats.org/drawingml/2006/main">
            <a:srgbClr val="6531AE"/>
          </a:solidFill>
          <a:ln xmlns:a="http://schemas.openxmlformats.org/drawingml/2006/main" w="9525">
            <a:solidFill>
              <a:srgbClr val="6531AE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0E38B46-D769-478A-9EAD-B821A1AB4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095875"/>
            <a:ext cx="409575" cy="2667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B345F7C-592F-49BD-949A-D4E8FBE97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4981575"/>
            <a:ext cx="2476500" cy="257175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6531AE"/>
                </a:solidFill>
              </a:defRPr>
            </a:pPr>
            <a:r>
              <a:rPr sz="1575" b="1">
                <a:solidFill>
                  <a:srgbClr val="6531AE"/>
                </a:solidFill>
              </a:rPr>
              <a:t>Umbrales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8B19EE8-E8CA-4A32-B522-16E19B586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5267325"/>
            <a:ext cx="4000500" cy="2095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14213D"/>
                </a:solidFill>
              </a:defRPr>
            </a:pPr>
            <a:r>
              <a:rPr sz="1050">
                <a:solidFill>
                  <a:srgbClr val="14213D"/>
                </a:solidFill>
              </a:rPr>
              <a:t>Definir cuántas reservas puede gestionar la operación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93819EF-CC5C-40B6-A98A-DCA4A575C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4819650"/>
            <a:ext cx="5048250" cy="809625"/>
          </a:xfrm>
          <a:prstGeom xmlns:a="http://schemas.openxmlformats.org/drawingml/2006/main" prst="roundRect">
            <a:avLst>
              <a:gd name="adj" fmla="val 18824"/>
            </a:avLst>
          </a:prstGeom>
          <a:solidFill xmlns:a="http://schemas.openxmlformats.org/drawingml/2006/main">
            <a:srgbClr val="EEF6FF"/>
          </a:solidFill>
          <a:ln xmlns:a="http://schemas.openxmlformats.org/drawingml/2006/main" w="9525">
            <a:solidFill>
              <a:srgbClr val="1769C2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094183A-43EE-4D5B-A736-385E10E84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5019675"/>
            <a:ext cx="409575" cy="409575"/>
          </a:xfrm>
          <a:prstGeom xmlns:a="http://schemas.openxmlformats.org/drawingml/2006/main" prst="roundRect">
            <a:avLst>
              <a:gd name="adj" fmla="val 37209"/>
            </a:avLst>
          </a:prstGeom>
          <a:solidFill xmlns:a="http://schemas.openxmlformats.org/drawingml/2006/main">
            <a:srgbClr val="1769C2"/>
          </a:solidFill>
          <a:ln xmlns:a="http://schemas.openxmlformats.org/drawingml/2006/main" w="9525">
            <a:solidFill>
              <a:srgbClr val="1769C2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950A300-44BE-4EEF-A7F7-3B5F7D95A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5095875"/>
            <a:ext cx="409575" cy="2667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8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97B74D4-076A-4C5C-80AC-C4B6E75C2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981575"/>
            <a:ext cx="2476500" cy="257175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769C2"/>
                </a:solidFill>
              </a:defRPr>
            </a:pPr>
            <a:r>
              <a:rPr sz="1575" b="1">
                <a:solidFill>
                  <a:srgbClr val="1769C2"/>
                </a:solidFill>
              </a:rPr>
              <a:t>Predicción local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CD5DD5E-DAD7-4BDB-8A12-FB5FB2241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5267325"/>
            <a:ext cx="4000500" cy="2095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14213D"/>
                </a:solidFill>
              </a:defRPr>
            </a:pPr>
            <a:r>
              <a:rPr sz="1050">
                <a:solidFill>
                  <a:srgbClr val="14213D"/>
                </a:solidFill>
              </a:rPr>
              <a:t>Formulario → probabilidad → acción preventiva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C9D5461-87CB-4B2A-9C60-84AE69C93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096250" cy="1714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7A86A3"/>
                </a:solidFill>
              </a:defRPr>
            </a:pPr>
            <a:r>
              <a:rPr sz="750">
                <a:solidFill>
                  <a:srgbClr val="7A86A3"/>
                </a:solidFill>
              </a:rPr>
              <a:t>Proyecto final · Predicción de cancelaciones hoteleras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AC8DF72-135A-49E8-86D4-811C0CF04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57950"/>
            <a:ext cx="3810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531AE"/>
                </a:solidFill>
              </a:defRPr>
            </a:pPr>
            <a:r>
              <a:rPr sz="900" b="1">
                <a:solidFill>
                  <a:srgbClr val="6531AE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17743960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D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title">
            <a:extLst xmlns:a="http://schemas.openxmlformats.org/drawingml/2006/main">
              <a:ext uri="{FF2B5EF4-FFF2-40B4-BE49-F238E27FC236}">
                <a16:creationId xmlns:a16="http://schemas.microsoft.com/office/drawing/2014/main" id="{4F31D371-73B4-4BC9-9467-1DDE92629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9525000" cy="533400"/>
          </a:xfrm>
          <a:prstGeom xmlns:a="http://schemas.openxmlformats.org/drawingml/2006/main" prst="roundRect">
            <a:avLst>
              <a:gd name="adj" fmla="val 2857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01B45"/>
                </a:solidFill>
              </a:defRPr>
            </a:pPr>
            <a:r>
              <a:rPr sz="2700" b="1">
                <a:solidFill>
                  <a:srgbClr val="101B45"/>
                </a:solidFill>
              </a:rPr>
              <a:t>Random Forest prioriza mejor el riesgo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3A62EB5B-C168-4959-B339-48E5EC865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981075"/>
            <a:ext cx="10001250" cy="2857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2617D"/>
                </a:solidFill>
              </a:defRPr>
            </a:pPr>
            <a:r>
              <a:rPr sz="1275">
                <a:solidFill>
                  <a:srgbClr val="52617D"/>
                </a:solidFill>
              </a:rPr>
              <a:t>La comparación se realizó sobre reservas de 2017, que el modelo no vio al entrenar.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B6A0A51A-EE74-4332-8D60-D65361D5E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239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DF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7CE963-E8A7-454C-A146-B211E23B9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28800"/>
            <a:ext cx="9906000" cy="2238375"/>
          </a:xfrm>
          <a:prstGeom xmlns:a="http://schemas.openxmlformats.org/drawingml/2006/main" prst="roundRect">
            <a:avLst>
              <a:gd name="adj" fmla="val 68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F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2E4DA8-80AF-4BAB-91D4-420990E5F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95500"/>
            <a:ext cx="2381250" cy="238125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B45"/>
                </a:solidFill>
              </a:defRPr>
            </a:pPr>
            <a:r>
              <a:rPr sz="1200" b="1">
                <a:solidFill>
                  <a:srgbClr val="101B45"/>
                </a:solidFill>
              </a:rPr>
              <a:t>Modelo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9A3A6D-DB9A-4665-954C-572073FD0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095500"/>
            <a:ext cx="1143000" cy="238125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1B45"/>
                </a:solidFill>
              </a:defRPr>
            </a:pPr>
            <a:r>
              <a:rPr sz="1200" b="1">
                <a:solidFill>
                  <a:srgbClr val="101B45"/>
                </a:solidFill>
              </a:rPr>
              <a:t>Accuracy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526A52-1FC5-4A69-BE32-2EA679C83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095500"/>
            <a:ext cx="1143000" cy="238125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1B45"/>
                </a:solidFill>
              </a:defRPr>
            </a:pPr>
            <a:r>
              <a:rPr sz="1200" b="1">
                <a:solidFill>
                  <a:srgbClr val="101B45"/>
                </a:solidFill>
              </a:rPr>
              <a:t>Precision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1EDBBA-1551-4FA5-A886-C32D1013D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95500"/>
            <a:ext cx="1143000" cy="238125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1B45"/>
                </a:solidFill>
              </a:defRPr>
            </a:pPr>
            <a:r>
              <a:rPr sz="1200" b="1">
                <a:solidFill>
                  <a:srgbClr val="101B45"/>
                </a:solidFill>
              </a:rPr>
              <a:t>Recall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6D0868-E44F-4F4F-9FAC-222902089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095500"/>
            <a:ext cx="952500" cy="238125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1B45"/>
                </a:solidFill>
              </a:defRPr>
            </a:pPr>
            <a:r>
              <a:rPr sz="1200" b="1">
                <a:solidFill>
                  <a:srgbClr val="101B45"/>
                </a:solidFill>
              </a:rPr>
              <a:t>F1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7787FB-164C-4913-B4A0-16800D02C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095500"/>
            <a:ext cx="1333500" cy="238125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1B45"/>
                </a:solidFill>
              </a:defRPr>
            </a:pPr>
            <a:r>
              <a:rPr sz="1200" b="1">
                <a:solidFill>
                  <a:srgbClr val="101B45"/>
                </a:solidFill>
              </a:rPr>
              <a:t>ROC-AUC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5B3E7C-2FF2-4CBA-8D25-A368DBC8D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14600"/>
            <a:ext cx="9677400" cy="504825"/>
          </a:xfrm>
          <a:prstGeom xmlns:a="http://schemas.openxmlformats.org/drawingml/2006/main" prst="roundRect">
            <a:avLst>
              <a:gd name="adj" fmla="val 30189"/>
            </a:avLst>
          </a:prstGeom>
          <a:solidFill xmlns:a="http://schemas.openxmlformats.org/drawingml/2006/main">
            <a:srgbClr val="F8F9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C47F15-EE21-4753-98B6-00CA3CBE2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00325"/>
            <a:ext cx="2381250" cy="2667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4213D"/>
                </a:solidFill>
              </a:defRPr>
            </a:pPr>
            <a:r>
              <a:rPr sz="1350" b="0">
                <a:solidFill>
                  <a:srgbClr val="14213D"/>
                </a:solidFill>
              </a:rPr>
              <a:t>Regresión Logística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3629CC-70CC-499D-9F34-7F8865C8A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600325"/>
            <a:ext cx="1143000" cy="2667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4213D"/>
                </a:solidFill>
              </a:defRPr>
            </a:pPr>
            <a:r>
              <a:rPr sz="1350" b="0">
                <a:solidFill>
                  <a:srgbClr val="14213D"/>
                </a:solidFill>
              </a:rPr>
              <a:t>69,1%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B75D30-B474-4D58-8FC4-622EBE99B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600325"/>
            <a:ext cx="1143000" cy="2667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4213D"/>
                </a:solidFill>
              </a:defRPr>
            </a:pPr>
            <a:r>
              <a:rPr sz="1350" b="0">
                <a:solidFill>
                  <a:srgbClr val="14213D"/>
                </a:solidFill>
              </a:rPr>
              <a:t>57,9%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5BA7A5A-20EC-431C-B8E9-40E1EBB79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600325"/>
            <a:ext cx="1143000" cy="2667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4213D"/>
                </a:solidFill>
              </a:defRPr>
            </a:pPr>
            <a:r>
              <a:rPr sz="1350" b="0">
                <a:solidFill>
                  <a:srgbClr val="14213D"/>
                </a:solidFill>
              </a:rPr>
              <a:t>74,1%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388FCF5-A425-42B2-BA25-FB00F3040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600325"/>
            <a:ext cx="952500" cy="2667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4213D"/>
                </a:solidFill>
              </a:defRPr>
            </a:pPr>
            <a:r>
              <a:rPr sz="1350" b="0">
                <a:solidFill>
                  <a:srgbClr val="14213D"/>
                </a:solidFill>
              </a:rPr>
              <a:t>65,0%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BF32BDA-1751-4229-895B-1971F90EA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600325"/>
            <a:ext cx="1333500" cy="2667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4213D"/>
                </a:solidFill>
              </a:defRPr>
            </a:pPr>
            <a:r>
              <a:rPr sz="1350" b="0">
                <a:solidFill>
                  <a:srgbClr val="14213D"/>
                </a:solidFill>
              </a:rPr>
              <a:t>0,782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909B589-2C60-48F6-BB51-63B53C932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00400"/>
            <a:ext cx="9677400" cy="504825"/>
          </a:xfrm>
          <a:prstGeom xmlns:a="http://schemas.openxmlformats.org/drawingml/2006/main" prst="roundRect">
            <a:avLst>
              <a:gd name="adj" fmla="val 30189"/>
            </a:avLst>
          </a:prstGeom>
          <a:solidFill xmlns:a="http://schemas.openxmlformats.org/drawingml/2006/main">
            <a:srgbClr val="EAF9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8FDB682-7E7D-4029-874E-182AD8BB5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86125"/>
            <a:ext cx="2381250" cy="2667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8A83"/>
                </a:solidFill>
              </a:defRPr>
            </a:pPr>
            <a:r>
              <a:rPr sz="1350" b="1">
                <a:solidFill>
                  <a:srgbClr val="008A83"/>
                </a:solidFill>
              </a:rPr>
              <a:t>Random Forest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C162DEB-D759-4EBE-8EC9-53BB05D8D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286125"/>
            <a:ext cx="1143000" cy="2667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4213D"/>
                </a:solidFill>
              </a:defRPr>
            </a:pPr>
            <a:r>
              <a:rPr sz="1350" b="1">
                <a:solidFill>
                  <a:srgbClr val="14213D"/>
                </a:solidFill>
              </a:rPr>
              <a:t>71,5%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57B5E68-EE4B-4E63-B931-FDE59503A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286125"/>
            <a:ext cx="1143000" cy="2667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4213D"/>
                </a:solidFill>
              </a:defRPr>
            </a:pPr>
            <a:r>
              <a:rPr sz="1350" b="1">
                <a:solidFill>
                  <a:srgbClr val="14213D"/>
                </a:solidFill>
              </a:rPr>
              <a:t>60,5%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3F876AA-38BE-4801-9A0B-E19D9560C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86125"/>
            <a:ext cx="1143000" cy="2667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4213D"/>
                </a:solidFill>
              </a:defRPr>
            </a:pPr>
            <a:r>
              <a:rPr sz="1350" b="1">
                <a:solidFill>
                  <a:srgbClr val="14213D"/>
                </a:solidFill>
              </a:rPr>
              <a:t>75,7%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27C5A82-8927-42F1-9568-3679D67FA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286125"/>
            <a:ext cx="952500" cy="2667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4213D"/>
                </a:solidFill>
              </a:defRPr>
            </a:pPr>
            <a:r>
              <a:rPr sz="1350" b="1">
                <a:solidFill>
                  <a:srgbClr val="14213D"/>
                </a:solidFill>
              </a:rPr>
              <a:t>67,3%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2E01B27-631E-4AFD-A2EB-2A80A8164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286125"/>
            <a:ext cx="1333500" cy="2667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4213D"/>
                </a:solidFill>
              </a:defRPr>
            </a:pPr>
            <a:r>
              <a:rPr sz="1350" b="1">
                <a:solidFill>
                  <a:srgbClr val="14213D"/>
                </a:solidFill>
              </a:rPr>
              <a:t>0,806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2518C2F-14D0-4D14-AEA3-95DA8A689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67250"/>
            <a:ext cx="2381250" cy="3048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6531AE"/>
                </a:solidFill>
              </a:defRPr>
            </a:pPr>
            <a:r>
              <a:rPr sz="1875" b="1">
                <a:solidFill>
                  <a:srgbClr val="6531AE"/>
                </a:solidFill>
              </a:rPr>
              <a:t>Lectura correcta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B3D6CAD-BE4A-4229-B41A-D8E50AF8E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95875"/>
            <a:ext cx="8524875" cy="523875"/>
          </a:xfrm>
          <a:prstGeom xmlns:a="http://schemas.openxmlformats.org/drawingml/2006/main" prst="roundRect">
            <a:avLst>
              <a:gd name="adj" fmla="val 2909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4213D"/>
                </a:solidFill>
              </a:defRPr>
            </a:pPr>
            <a:r>
              <a:rPr sz="1650">
                <a:solidFill>
                  <a:srgbClr val="14213D"/>
                </a:solidFill>
              </a:rPr>
              <a:t>ROC-AUC de 0,806 significa que el modelo ordena bien el riesgo relativo. No equivale a una certeza de 80,6% para cada reserva.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FF54E1C-BD4B-4CBD-861A-90F3DE9E6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096250" cy="1714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7A86A3"/>
                </a:solidFill>
              </a:defRPr>
            </a:pPr>
            <a:r>
              <a:rPr sz="750">
                <a:solidFill>
                  <a:srgbClr val="7A86A3"/>
                </a:solidFill>
              </a:rPr>
              <a:t>Proyecto final · Predicción de cancelaciones hoteleras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D8CE682-5C41-4EA1-BE60-E5D4DB22F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57950"/>
            <a:ext cx="3810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531AE"/>
                </a:solidFill>
              </a:defRPr>
            </a:pPr>
            <a:r>
              <a:rPr sz="900" b="1">
                <a:solidFill>
                  <a:srgbClr val="6531AE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63117774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D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title">
            <a:extLst xmlns:a="http://schemas.openxmlformats.org/drawingml/2006/main">
              <a:ext uri="{FF2B5EF4-FFF2-40B4-BE49-F238E27FC236}">
                <a16:creationId xmlns:a16="http://schemas.microsoft.com/office/drawing/2014/main" id="{74E1B990-49D1-4537-8AE6-C49A6BE47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9525000" cy="533400"/>
          </a:xfrm>
          <a:prstGeom xmlns:a="http://schemas.openxmlformats.org/drawingml/2006/main" prst="roundRect">
            <a:avLst>
              <a:gd name="adj" fmla="val 2857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01B45"/>
                </a:solidFill>
              </a:defRPr>
            </a:pPr>
            <a:r>
              <a:rPr sz="2700" b="1">
                <a:solidFill>
                  <a:srgbClr val="101B45"/>
                </a:solidFill>
              </a:rPr>
              <a:t>La matriz muestra el costo de las alertas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165CC703-F35E-404C-915B-54FD1814C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981075"/>
            <a:ext cx="10001250" cy="2857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2617D"/>
                </a:solidFill>
              </a:defRPr>
            </a:pPr>
            <a:r>
              <a:rPr sz="1275">
                <a:solidFill>
                  <a:srgbClr val="52617D"/>
                </a:solidFill>
              </a:rPr>
              <a:t>Con umbral de 0,50, el modelo detecta muchas cancelaciones y también genera falsas alertas.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82CF8223-D45A-47EF-B641-71FE10561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239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DF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3C24FA-FB4A-46F6-8EA1-B41B3B81F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1866900"/>
            <a:ext cx="762000" cy="238125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1620000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2617D"/>
                </a:solidFill>
              </a:defRPr>
            </a:pPr>
            <a:r>
              <a:rPr sz="1200" b="1">
                <a:solidFill>
                  <a:srgbClr val="52617D"/>
                </a:solidFill>
              </a:rPr>
              <a:t>Real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9FC82B-A5C3-47C4-95A2-D25C3E566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1619250"/>
            <a:ext cx="3714750" cy="2667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01B45"/>
                </a:solidFill>
              </a:defRPr>
            </a:pPr>
            <a:r>
              <a:rPr sz="1425" b="1">
                <a:solidFill>
                  <a:srgbClr val="101B45"/>
                </a:solidFill>
              </a:rPr>
              <a:t>Predicción del modelo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D60A3F-A9B2-4956-8399-7F3005372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971675"/>
            <a:ext cx="1638300" cy="2286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52617D"/>
                </a:solidFill>
              </a:defRPr>
            </a:pPr>
            <a:r>
              <a:rPr sz="1200" b="1">
                <a:solidFill>
                  <a:srgbClr val="52617D"/>
                </a:solidFill>
              </a:rPr>
              <a:t>No cancela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8BA766-4790-4329-8EC4-6BAC83C66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971675"/>
            <a:ext cx="1638300" cy="2286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52617D"/>
                </a:solidFill>
              </a:defRPr>
            </a:pPr>
            <a:r>
              <a:rPr sz="1200" b="1">
                <a:solidFill>
                  <a:srgbClr val="52617D"/>
                </a:solidFill>
              </a:rPr>
              <a:t>Cancela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0391A5-B929-45DE-9DF7-46C0A639C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362200"/>
            <a:ext cx="1676400" cy="1133475"/>
          </a:xfrm>
          <a:prstGeom xmlns:a="http://schemas.openxmlformats.org/drawingml/2006/main" prst="roundRect">
            <a:avLst>
              <a:gd name="adj" fmla="val 13445"/>
            </a:avLst>
          </a:prstGeom>
          <a:solidFill xmlns:a="http://schemas.openxmlformats.org/drawingml/2006/main">
            <a:srgbClr val="F2F9EA"/>
          </a:solidFill>
          <a:ln xmlns:a="http://schemas.openxmlformats.org/drawingml/2006/main" w="9525">
            <a:solidFill>
              <a:srgbClr val="4E9A1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0A6EE1-C48A-4E19-B828-6A3495607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571750"/>
            <a:ext cx="1485900" cy="352425"/>
          </a:xfrm>
          <a:prstGeom xmlns:a="http://schemas.openxmlformats.org/drawingml/2006/main" prst="roundRect">
            <a:avLst>
              <a:gd name="adj" fmla="val 4324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4E9A1A"/>
                </a:solidFill>
              </a:defRPr>
            </a:pPr>
            <a:r>
              <a:rPr sz="2250" b="1">
                <a:solidFill>
                  <a:srgbClr val="4E9A1A"/>
                </a:solidFill>
              </a:rPr>
              <a:t>17.173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6DE38B-090F-426D-BEDE-BA2F0B9E8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038475"/>
            <a:ext cx="1485900" cy="238125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14213D"/>
                </a:solidFill>
              </a:defRPr>
            </a:pPr>
            <a:r>
              <a:rPr sz="975">
                <a:solidFill>
                  <a:srgbClr val="14213D"/>
                </a:solidFill>
              </a:rPr>
              <a:t>Correcto: no interviene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BE464C-0273-44EB-8E0E-107CA2F90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362200"/>
            <a:ext cx="1676400" cy="1133475"/>
          </a:xfrm>
          <a:prstGeom xmlns:a="http://schemas.openxmlformats.org/drawingml/2006/main" prst="roundRect">
            <a:avLst>
              <a:gd name="adj" fmla="val 13445"/>
            </a:avLst>
          </a:prstGeom>
          <a:solidFill xmlns:a="http://schemas.openxmlformats.org/drawingml/2006/main">
            <a:srgbClr val="FFF0F4"/>
          </a:solidFill>
          <a:ln xmlns:a="http://schemas.openxmlformats.org/drawingml/2006/main" w="9525">
            <a:solidFill>
              <a:srgbClr val="E83E6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064BE7-637C-4930-AB26-0C79D8273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571750"/>
            <a:ext cx="1485900" cy="352425"/>
          </a:xfrm>
          <a:prstGeom xmlns:a="http://schemas.openxmlformats.org/drawingml/2006/main" prst="roundRect">
            <a:avLst>
              <a:gd name="adj" fmla="val 4324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E83E66"/>
                </a:solidFill>
              </a:defRPr>
            </a:pPr>
            <a:r>
              <a:rPr sz="2250" b="1">
                <a:solidFill>
                  <a:srgbClr val="E83E66"/>
                </a:solidFill>
              </a:rPr>
              <a:t>7.769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0C9BA4-ECCE-4551-8BF9-57C272DDD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038475"/>
            <a:ext cx="1485900" cy="238125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14213D"/>
                </a:solidFill>
              </a:defRPr>
            </a:pPr>
            <a:r>
              <a:rPr sz="975">
                <a:solidFill>
                  <a:srgbClr val="14213D"/>
                </a:solidFill>
              </a:rPr>
              <a:t>Falsa alerta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7A98A10-8097-45AE-B188-77196C613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648075"/>
            <a:ext cx="1676400" cy="1133475"/>
          </a:xfrm>
          <a:prstGeom xmlns:a="http://schemas.openxmlformats.org/drawingml/2006/main" prst="roundRect">
            <a:avLst>
              <a:gd name="adj" fmla="val 13445"/>
            </a:avLst>
          </a:prstGeom>
          <a:solidFill xmlns:a="http://schemas.openxmlformats.org/drawingml/2006/main">
            <a:srgbClr val="FFF7E2"/>
          </a:solidFill>
          <a:ln xmlns:a="http://schemas.openxmlformats.org/drawingml/2006/main" w="9525">
            <a:solidFill>
              <a:srgbClr val="D89B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31E9F08-960E-4E6F-85A6-C78607D6C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857625"/>
            <a:ext cx="1485900" cy="352425"/>
          </a:xfrm>
          <a:prstGeom xmlns:a="http://schemas.openxmlformats.org/drawingml/2006/main" prst="roundRect">
            <a:avLst>
              <a:gd name="adj" fmla="val 4324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D89B00"/>
                </a:solidFill>
              </a:defRPr>
            </a:pPr>
            <a:r>
              <a:rPr sz="2250" b="1">
                <a:solidFill>
                  <a:srgbClr val="D89B00"/>
                </a:solidFill>
              </a:rPr>
              <a:t>3.826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6545219-080E-40C0-A776-C6C436E41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324350"/>
            <a:ext cx="1485900" cy="238125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14213D"/>
                </a:solidFill>
              </a:defRPr>
            </a:pPr>
            <a:r>
              <a:rPr sz="975">
                <a:solidFill>
                  <a:srgbClr val="14213D"/>
                </a:solidFill>
              </a:rPr>
              <a:t>Cancelación no detectada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1D9BCB9-0F31-481B-9894-E10C72719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648075"/>
            <a:ext cx="1676400" cy="1133475"/>
          </a:xfrm>
          <a:prstGeom xmlns:a="http://schemas.openxmlformats.org/drawingml/2006/main" prst="roundRect">
            <a:avLst>
              <a:gd name="adj" fmla="val 13445"/>
            </a:avLst>
          </a:prstGeom>
          <a:solidFill xmlns:a="http://schemas.openxmlformats.org/drawingml/2006/main">
            <a:srgbClr val="EAF9F7"/>
          </a:solidFill>
          <a:ln xmlns:a="http://schemas.openxmlformats.org/drawingml/2006/main" w="9525">
            <a:solidFill>
              <a:srgbClr val="008A8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591AAA5-DFD7-4816-A9AF-8BE5812EA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857625"/>
            <a:ext cx="1485900" cy="352425"/>
          </a:xfrm>
          <a:prstGeom xmlns:a="http://schemas.openxmlformats.org/drawingml/2006/main" prst="roundRect">
            <a:avLst>
              <a:gd name="adj" fmla="val 4324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08A83"/>
                </a:solidFill>
              </a:defRPr>
            </a:pPr>
            <a:r>
              <a:rPr sz="2250" b="1">
                <a:solidFill>
                  <a:srgbClr val="008A83"/>
                </a:solidFill>
              </a:rPr>
              <a:t>11.919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7836BDF-BB21-4C97-805F-156CB2AC0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4324350"/>
            <a:ext cx="1485900" cy="238125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14213D"/>
                </a:solidFill>
              </a:defRPr>
            </a:pPr>
            <a:r>
              <a:rPr sz="975">
                <a:solidFill>
                  <a:srgbClr val="14213D"/>
                </a:solidFill>
              </a:rPr>
              <a:t>Cancelación detectada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31EB1DE-D79F-4C63-A631-C45F0FE0B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705100"/>
            <a:ext cx="1162050" cy="219075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2617D"/>
                </a:solidFill>
              </a:defRPr>
            </a:pPr>
            <a:r>
              <a:rPr sz="1200" b="1">
                <a:solidFill>
                  <a:srgbClr val="52617D"/>
                </a:solidFill>
              </a:rPr>
              <a:t>No cancela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EDDF852-F141-4A25-9C36-4A1145E1E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0225" y="3971925"/>
            <a:ext cx="904875" cy="219075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2617D"/>
                </a:solidFill>
              </a:defRPr>
            </a:pPr>
            <a:r>
              <a:rPr sz="1200" b="1">
                <a:solidFill>
                  <a:srgbClr val="52617D"/>
                </a:solidFill>
              </a:rPr>
              <a:t>Cancela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36B9CCD-9262-4ED4-B9F1-9F7B66668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2266950"/>
            <a:ext cx="4048125" cy="2533650"/>
          </a:xfrm>
          <a:prstGeom xmlns:a="http://schemas.openxmlformats.org/drawingml/2006/main" prst="roundRect">
            <a:avLst>
              <a:gd name="adj" fmla="val 6015"/>
            </a:avLst>
          </a:prstGeom>
          <a:solidFill xmlns:a="http://schemas.openxmlformats.org/drawingml/2006/main">
            <a:srgbClr val="F4EDFF"/>
          </a:solidFill>
          <a:ln xmlns:a="http://schemas.openxmlformats.org/drawingml/2006/main" w="9525">
            <a:solidFill>
              <a:srgbClr val="D9D1F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DE2A68C-1384-4146-BEB8-A0A5677D8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609850"/>
            <a:ext cx="2952750" cy="2857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6531AE"/>
                </a:solidFill>
              </a:defRPr>
            </a:pPr>
            <a:r>
              <a:rPr sz="1800" b="1">
                <a:solidFill>
                  <a:srgbClr val="6531AE"/>
                </a:solidFill>
              </a:rPr>
              <a:t>¿Qué implica?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BF31A4C-FFC6-44ED-BFD2-28D59B5B4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095625"/>
            <a:ext cx="3238500" cy="1409700"/>
          </a:xfrm>
          <a:prstGeom xmlns:a="http://schemas.openxmlformats.org/drawingml/2006/main" prst="roundRect">
            <a:avLst>
              <a:gd name="adj" fmla="val 1081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4213D"/>
                </a:solidFill>
              </a:defRPr>
            </a:pPr>
            <a:r>
              <a:rPr sz="1350">
                <a:solidFill>
                  <a:srgbClr val="14213D"/>
                </a:solidFill>
              </a:rPr>
              <a:t>• Detecta 75,7% de las cancelaciones.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350">
                <a:solidFill>
                  <a:srgbClr val="14213D"/>
                </a:solidFill>
              </a:defRPr>
            </a:pPr>
            <a:r>
              <a:rPr sz="1350">
                <a:solidFill>
                  <a:srgbClr val="14213D"/>
                </a:solidFill>
              </a:rPr>
              <a:t>• De cada 100 alertas, ~61 son cancelaciones reales y ~39 son falsas alertas.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350">
                <a:solidFill>
                  <a:srgbClr val="14213D"/>
                </a:solidFill>
              </a:defRPr>
            </a:pPr>
            <a:r>
              <a:rPr sz="1350">
                <a:solidFill>
                  <a:srgbClr val="14213D"/>
                </a:solidFill>
              </a:rPr>
              <a:t>• Por eso sirve para priorizar, no para bloquear reservas.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9B24757-2747-4263-A980-008AD7A8A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096250" cy="1714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7A86A3"/>
                </a:solidFill>
              </a:defRPr>
            </a:pPr>
            <a:r>
              <a:rPr sz="750">
                <a:solidFill>
                  <a:srgbClr val="7A86A3"/>
                </a:solidFill>
              </a:rPr>
              <a:t>Proyecto final · Predicción de cancelaciones hoteleras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FBCADB3-290E-4F9E-A0FB-188D60EE1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57950"/>
            <a:ext cx="3810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531AE"/>
                </a:solidFill>
              </a:defRPr>
            </a:pPr>
            <a:r>
              <a:rPr sz="900" b="1">
                <a:solidFill>
                  <a:srgbClr val="6531AE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7579591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D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title">
            <a:extLst xmlns:a="http://schemas.openxmlformats.org/drawingml/2006/main">
              <a:ext uri="{FF2B5EF4-FFF2-40B4-BE49-F238E27FC236}">
                <a16:creationId xmlns:a16="http://schemas.microsoft.com/office/drawing/2014/main" id="{0570E095-61B3-4E24-B5EB-3C0603711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9525000" cy="533400"/>
          </a:xfrm>
          <a:prstGeom xmlns:a="http://schemas.openxmlformats.org/drawingml/2006/main" prst="roundRect">
            <a:avLst>
              <a:gd name="adj" fmla="val 2857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01B45"/>
                </a:solidFill>
              </a:defRPr>
            </a:pPr>
            <a:r>
              <a:rPr sz="2700" b="1">
                <a:solidFill>
                  <a:srgbClr val="101B45"/>
                </a:solidFill>
              </a:rPr>
              <a:t>El umbral cambia el volumen y la calidad de la alerta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5B74F707-3A62-4397-AFA9-64F6C19E7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981075"/>
            <a:ext cx="10001250" cy="2857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2617D"/>
                </a:solidFill>
              </a:defRPr>
            </a:pPr>
            <a:r>
              <a:rPr sz="1275">
                <a:solidFill>
                  <a:srgbClr val="52617D"/>
                </a:solidFill>
              </a:rPr>
              <a:t>No existe un único umbral correcto: depende de la capacidad operativa y del costo de intervenir.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DF9E4CCB-B474-46E8-BD90-087D80F06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239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DF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97CB3B-118C-42AE-8B1F-333665DF7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10820400" cy="933450"/>
          </a:xfrm>
          <a:prstGeom xmlns:a="http://schemas.openxmlformats.org/drawingml/2006/main" prst="roundRect">
            <a:avLst>
              <a:gd name="adj" fmla="val 16327"/>
            </a:avLst>
          </a:prstGeom>
          <a:solidFill xmlns:a="http://schemas.openxmlformats.org/drawingml/2006/main">
            <a:srgbClr val="FFF0F4"/>
          </a:solidFill>
          <a:ln xmlns:a="http://schemas.openxmlformats.org/drawingml/2006/main" w="9525">
            <a:solidFill>
              <a:srgbClr val="E83E6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E52FBD-FE79-4BD5-AF7A-FF45F8812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2028825"/>
            <a:ext cx="1524000" cy="2857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E83E66"/>
                </a:solidFill>
              </a:defRPr>
            </a:pPr>
            <a:r>
              <a:rPr sz="1725" b="1">
                <a:solidFill>
                  <a:srgbClr val="E83E66"/>
                </a:solidFill>
              </a:rPr>
              <a:t>Umbral 0,30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FB665F-6A18-4F7E-93D8-BC3DD389C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952625"/>
            <a:ext cx="1381125" cy="333375"/>
          </a:xfrm>
          <a:prstGeom xmlns:a="http://schemas.openxmlformats.org/drawingml/2006/main" prst="roundRect">
            <a:avLst>
              <a:gd name="adj" fmla="val 4571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4213D"/>
                </a:solidFill>
              </a:defRPr>
            </a:pPr>
            <a:r>
              <a:rPr sz="2100" b="1">
                <a:solidFill>
                  <a:srgbClr val="14213D"/>
                </a:solidFill>
              </a:rPr>
              <a:t>63,9%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384174-C53A-48EF-9FB7-F835C8394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305050"/>
            <a:ext cx="1381125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52617D"/>
                </a:solidFill>
              </a:defRPr>
            </a:pPr>
            <a:r>
              <a:rPr sz="975">
                <a:solidFill>
                  <a:srgbClr val="52617D"/>
                </a:solidFill>
              </a:rPr>
              <a:t>reservas marcadas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9938A6-1CE8-451F-BEF3-57841E065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1952625"/>
            <a:ext cx="1381125" cy="333375"/>
          </a:xfrm>
          <a:prstGeom xmlns:a="http://schemas.openxmlformats.org/drawingml/2006/main" prst="roundRect">
            <a:avLst>
              <a:gd name="adj" fmla="val 4571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4213D"/>
                </a:solidFill>
              </a:defRPr>
            </a:pPr>
            <a:r>
              <a:rPr sz="2100" b="1">
                <a:solidFill>
                  <a:srgbClr val="14213D"/>
                </a:solidFill>
              </a:rPr>
              <a:t>25.992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DF65BD-5E77-44D2-B440-74E8F9950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305050"/>
            <a:ext cx="1381125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52617D"/>
                </a:solidFill>
              </a:defRPr>
            </a:pPr>
            <a:r>
              <a:rPr sz="975">
                <a:solidFill>
                  <a:srgbClr val="52617D"/>
                </a:solidFill>
              </a:rPr>
              <a:t>reservas a gestionar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C98426-7BBD-4E9B-8B83-AF3676CD4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085975"/>
            <a:ext cx="3571875" cy="361950"/>
          </a:xfrm>
          <a:prstGeom xmlns:a="http://schemas.openxmlformats.org/drawingml/2006/main" prst="roundRect">
            <a:avLst>
              <a:gd name="adj" fmla="val 42105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4213D"/>
                </a:solidFill>
              </a:defRPr>
            </a:pPr>
            <a:r>
              <a:rPr sz="1350">
                <a:solidFill>
                  <a:srgbClr val="14213D"/>
                </a:solidFill>
              </a:rPr>
              <a:t>Alta cobertura; demasiadas alertas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5B4AF2-E390-49EC-A078-B757165B7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9900"/>
            <a:ext cx="10820400" cy="933450"/>
          </a:xfrm>
          <a:prstGeom xmlns:a="http://schemas.openxmlformats.org/drawingml/2006/main" prst="roundRect">
            <a:avLst>
              <a:gd name="adj" fmla="val 16327"/>
            </a:avLst>
          </a:prstGeom>
          <a:solidFill xmlns:a="http://schemas.openxmlformats.org/drawingml/2006/main">
            <a:srgbClr val="FFF7E2"/>
          </a:solidFill>
          <a:ln xmlns:a="http://schemas.openxmlformats.org/drawingml/2006/main" w="9525">
            <a:solidFill>
              <a:srgbClr val="D89B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0962F2-A170-4D58-B5A4-7481DE572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3248025"/>
            <a:ext cx="1524000" cy="2857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D89B00"/>
                </a:solidFill>
              </a:defRPr>
            </a:pPr>
            <a:r>
              <a:rPr sz="1725" b="1">
                <a:solidFill>
                  <a:srgbClr val="D89B00"/>
                </a:solidFill>
              </a:rPr>
              <a:t>Umbral 0,50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A104A2-43E7-440E-A9CC-1B1F0E3C1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171825"/>
            <a:ext cx="1381125" cy="333375"/>
          </a:xfrm>
          <a:prstGeom xmlns:a="http://schemas.openxmlformats.org/drawingml/2006/main" prst="roundRect">
            <a:avLst>
              <a:gd name="adj" fmla="val 4571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4213D"/>
                </a:solidFill>
              </a:defRPr>
            </a:pPr>
            <a:r>
              <a:rPr sz="2100" b="1">
                <a:solidFill>
                  <a:srgbClr val="14213D"/>
                </a:solidFill>
              </a:rPr>
              <a:t>48,4%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BA05CA6-4FCD-474D-8CFF-8F4A10DD0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524250"/>
            <a:ext cx="1381125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52617D"/>
                </a:solidFill>
              </a:defRPr>
            </a:pPr>
            <a:r>
              <a:rPr sz="975">
                <a:solidFill>
                  <a:srgbClr val="52617D"/>
                </a:solidFill>
              </a:rPr>
              <a:t>reservas marcadas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54AE268-47C5-4BB0-B9B5-26E484013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171825"/>
            <a:ext cx="1381125" cy="333375"/>
          </a:xfrm>
          <a:prstGeom xmlns:a="http://schemas.openxmlformats.org/drawingml/2006/main" prst="roundRect">
            <a:avLst>
              <a:gd name="adj" fmla="val 4571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4213D"/>
                </a:solidFill>
              </a:defRPr>
            </a:pPr>
            <a:r>
              <a:rPr sz="2100" b="1">
                <a:solidFill>
                  <a:srgbClr val="14213D"/>
                </a:solidFill>
              </a:rPr>
              <a:t>19.688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9CDE325-295B-4CBC-8756-B94A6BB40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524250"/>
            <a:ext cx="1381125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52617D"/>
                </a:solidFill>
              </a:defRPr>
            </a:pPr>
            <a:r>
              <a:rPr sz="975">
                <a:solidFill>
                  <a:srgbClr val="52617D"/>
                </a:solidFill>
              </a:rPr>
              <a:t>reservas a gestionar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722FE5E-F199-4971-A21F-2B8CE3194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305175"/>
            <a:ext cx="3571875" cy="361950"/>
          </a:xfrm>
          <a:prstGeom xmlns:a="http://schemas.openxmlformats.org/drawingml/2006/main" prst="roundRect">
            <a:avLst>
              <a:gd name="adj" fmla="val 42105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4213D"/>
                </a:solidFill>
              </a:defRPr>
            </a:pPr>
            <a:r>
              <a:rPr sz="1350">
                <a:solidFill>
                  <a:srgbClr val="14213D"/>
                </a:solidFill>
              </a:rPr>
              <a:t>Punto de partida para priorización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67C6978-857F-4551-9EF4-697E9519F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29100"/>
            <a:ext cx="10820400" cy="933450"/>
          </a:xfrm>
          <a:prstGeom xmlns:a="http://schemas.openxmlformats.org/drawingml/2006/main" prst="roundRect">
            <a:avLst>
              <a:gd name="adj" fmla="val 16327"/>
            </a:avLst>
          </a:prstGeom>
          <a:solidFill xmlns:a="http://schemas.openxmlformats.org/drawingml/2006/main">
            <a:srgbClr val="EAF9F7"/>
          </a:solidFill>
          <a:ln xmlns:a="http://schemas.openxmlformats.org/drawingml/2006/main" w="9525">
            <a:solidFill>
              <a:srgbClr val="008A8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1E70B6B-CC90-4A9D-8359-68BE115F3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467225"/>
            <a:ext cx="1524000" cy="2857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08A83"/>
                </a:solidFill>
              </a:defRPr>
            </a:pPr>
            <a:r>
              <a:rPr sz="1725" b="1">
                <a:solidFill>
                  <a:srgbClr val="008A83"/>
                </a:solidFill>
              </a:rPr>
              <a:t>Umbral 0,70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B21C1F6-7426-4E86-8C01-AC1380941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391025"/>
            <a:ext cx="1381125" cy="333375"/>
          </a:xfrm>
          <a:prstGeom xmlns:a="http://schemas.openxmlformats.org/drawingml/2006/main" prst="roundRect">
            <a:avLst>
              <a:gd name="adj" fmla="val 4571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4213D"/>
                </a:solidFill>
              </a:defRPr>
            </a:pPr>
            <a:r>
              <a:rPr sz="2100" b="1">
                <a:solidFill>
                  <a:srgbClr val="14213D"/>
                </a:solidFill>
              </a:rPr>
              <a:t>10,2%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F7CCF44-66AD-4959-BB9C-D01A2180C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743450"/>
            <a:ext cx="1381125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52617D"/>
                </a:solidFill>
              </a:defRPr>
            </a:pPr>
            <a:r>
              <a:rPr sz="975">
                <a:solidFill>
                  <a:srgbClr val="52617D"/>
                </a:solidFill>
              </a:rPr>
              <a:t>reservas marcadas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19473BD-8C02-4076-8B97-F24FD6157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391025"/>
            <a:ext cx="1381125" cy="333375"/>
          </a:xfrm>
          <a:prstGeom xmlns:a="http://schemas.openxmlformats.org/drawingml/2006/main" prst="roundRect">
            <a:avLst>
              <a:gd name="adj" fmla="val 4571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4213D"/>
                </a:solidFill>
              </a:defRPr>
            </a:pPr>
            <a:r>
              <a:rPr sz="2100" b="1">
                <a:solidFill>
                  <a:srgbClr val="14213D"/>
                </a:solidFill>
              </a:rPr>
              <a:t>4.141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5B9154D-8201-4388-AA72-D5E667958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743450"/>
            <a:ext cx="1381125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52617D"/>
                </a:solidFill>
              </a:defRPr>
            </a:pPr>
            <a:r>
              <a:rPr sz="975">
                <a:solidFill>
                  <a:srgbClr val="52617D"/>
                </a:solidFill>
              </a:rPr>
              <a:t>reservas a gestionar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038B64B-4542-4972-A33E-A11F75CFE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524375"/>
            <a:ext cx="3571875" cy="361950"/>
          </a:xfrm>
          <a:prstGeom xmlns:a="http://schemas.openxmlformats.org/drawingml/2006/main" prst="roundRect">
            <a:avLst>
              <a:gd name="adj" fmla="val 42105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4213D"/>
                </a:solidFill>
              </a:defRPr>
            </a:pPr>
            <a:r>
              <a:rPr sz="1350">
                <a:solidFill>
                  <a:srgbClr val="14213D"/>
                </a:solidFill>
              </a:rPr>
              <a:t>Casos muy concentrados; validar en otro hotel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68414B5-00EB-4FC8-BF60-EC8EAEBAE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76900"/>
            <a:ext cx="10668000" cy="438150"/>
          </a:xfrm>
          <a:prstGeom xmlns:a="http://schemas.openxmlformats.org/drawingml/2006/main" prst="roundRect">
            <a:avLst>
              <a:gd name="adj" fmla="val 3478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E83E66"/>
                </a:solidFill>
              </a:defRPr>
            </a:pPr>
            <a:r>
              <a:rPr sz="1425" b="1">
                <a:solidFill>
                  <a:srgbClr val="E83E66"/>
                </a:solidFill>
              </a:rPr>
              <a:t>Hallazgo crítico: el resultado “perfecto” en 0,70 depende en gran parte de las reglas de depósito del dataset. Debe validarse antes de usarlo como política real.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EA644A0-90DF-4C02-AEC1-C4C9C8EBC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096250" cy="1714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7A86A3"/>
                </a:solidFill>
              </a:defRPr>
            </a:pPr>
            <a:r>
              <a:rPr sz="750">
                <a:solidFill>
                  <a:srgbClr val="7A86A3"/>
                </a:solidFill>
              </a:rPr>
              <a:t>Proyecto final · Predicción de cancelaciones hoteleras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A5B0031-F15B-4489-BE6A-8770557A7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57950"/>
            <a:ext cx="3810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531AE"/>
                </a:solidFill>
              </a:defRPr>
            </a:pPr>
            <a:r>
              <a:rPr sz="900" b="1">
                <a:solidFill>
                  <a:srgbClr val="6531AE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24645039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D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title">
            <a:extLst xmlns:a="http://schemas.openxmlformats.org/drawingml/2006/main">
              <a:ext uri="{FF2B5EF4-FFF2-40B4-BE49-F238E27FC236}">
                <a16:creationId xmlns:a16="http://schemas.microsoft.com/office/drawing/2014/main" id="{5ED932AF-413D-417D-B873-0030DCA10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9525000" cy="533400"/>
          </a:xfrm>
          <a:prstGeom xmlns:a="http://schemas.openxmlformats.org/drawingml/2006/main" prst="roundRect">
            <a:avLst>
              <a:gd name="adj" fmla="val 2857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01B45"/>
                </a:solidFill>
              </a:defRPr>
            </a:pPr>
            <a:r>
              <a:rPr sz="2700" b="1">
                <a:solidFill>
                  <a:srgbClr val="101B45"/>
                </a:solidFill>
              </a:rPr>
              <a:t>De la predicción a una acción operativa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5905E04A-C78E-4B93-B816-3DBA38378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981075"/>
            <a:ext cx="10001250" cy="2857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2617D"/>
                </a:solidFill>
              </a:defRPr>
            </a:pPr>
            <a:r>
              <a:rPr sz="1275">
                <a:solidFill>
                  <a:srgbClr val="52617D"/>
                </a:solidFill>
              </a:rPr>
              <a:t>Una demostración local permite revisar el riesgo al registrar una reserva.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5083B884-39A6-4332-8859-7B792FEB1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239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DF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E19D20-24E8-477F-9F69-A2B65DFC9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05050"/>
            <a:ext cx="3095625" cy="209550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4EDFF"/>
          </a:solidFill>
          <a:ln xmlns:a="http://schemas.openxmlformats.org/drawingml/2006/main" w="19050">
            <a:solidFill>
              <a:srgbClr val="6531A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560E32-3A16-4A68-A0D7-9E044DAE2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43175"/>
            <a:ext cx="409575" cy="409575"/>
          </a:xfrm>
          <a:prstGeom xmlns:a="http://schemas.openxmlformats.org/drawingml/2006/main" prst="roundRect">
            <a:avLst>
              <a:gd name="adj" fmla="val 37209"/>
            </a:avLst>
          </a:prstGeom>
          <a:solidFill xmlns:a="http://schemas.openxmlformats.org/drawingml/2006/main">
            <a:srgbClr val="6531AE"/>
          </a:solidFill>
          <a:ln xmlns:a="http://schemas.openxmlformats.org/drawingml/2006/main" w="9525">
            <a:solidFill>
              <a:srgbClr val="6531A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59B956-0B8C-4CF9-BA6A-53A1A4CA3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19375"/>
            <a:ext cx="409575" cy="2667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57CAFB-1F19-4EA6-BC93-AAE510D68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3171825"/>
            <a:ext cx="2571750" cy="295275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6531AE"/>
                </a:solidFill>
              </a:defRPr>
            </a:pPr>
            <a:r>
              <a:rPr sz="1725" b="1">
                <a:solidFill>
                  <a:srgbClr val="6531AE"/>
                </a:solidFill>
              </a:rPr>
              <a:t>Datos de reserva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8109D4-59BF-44EB-ACB6-1D0D3847A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3629025"/>
            <a:ext cx="2524125" cy="590550"/>
          </a:xfrm>
          <a:prstGeom xmlns:a="http://schemas.openxmlformats.org/drawingml/2006/main" prst="roundRect">
            <a:avLst>
              <a:gd name="adj" fmla="val 25806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4213D"/>
                </a:solidFill>
              </a:defRPr>
            </a:pPr>
            <a:r>
              <a:rPr sz="1275">
                <a:solidFill>
                  <a:srgbClr val="14213D"/>
                </a:solidFill>
              </a:rPr>
              <a:t>Anticipación, noches, canal, depósito, tipo de cliente y tarifa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2BC0B8-B189-4796-B358-0A5E7A8D9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305050"/>
            <a:ext cx="3095625" cy="209550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EAF9F7"/>
          </a:solidFill>
          <a:ln xmlns:a="http://schemas.openxmlformats.org/drawingml/2006/main" w="19050">
            <a:solidFill>
              <a:srgbClr val="008A8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E85166-FB94-43F2-8E36-B43CCB53B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543175"/>
            <a:ext cx="409575" cy="409575"/>
          </a:xfrm>
          <a:prstGeom xmlns:a="http://schemas.openxmlformats.org/drawingml/2006/main" prst="roundRect">
            <a:avLst>
              <a:gd name="adj" fmla="val 37209"/>
            </a:avLst>
          </a:prstGeom>
          <a:solidFill xmlns:a="http://schemas.openxmlformats.org/drawingml/2006/main">
            <a:srgbClr val="008A83"/>
          </a:solidFill>
          <a:ln xmlns:a="http://schemas.openxmlformats.org/drawingml/2006/main" w="9525">
            <a:solidFill>
              <a:srgbClr val="008A8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13F291-F4A1-454D-ADFF-45853428C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619375"/>
            <a:ext cx="409575" cy="2667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120668-D9A3-464C-A566-34833EAAD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3171825"/>
            <a:ext cx="2571750" cy="295275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08A83"/>
                </a:solidFill>
              </a:defRPr>
            </a:pPr>
            <a:r>
              <a:rPr sz="1725" b="1">
                <a:solidFill>
                  <a:srgbClr val="008A83"/>
                </a:solidFill>
              </a:rPr>
              <a:t>Modelo guardado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7A4530-C33A-4358-8F96-77DAB4C43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3629025"/>
            <a:ext cx="2524125" cy="590550"/>
          </a:xfrm>
          <a:prstGeom xmlns:a="http://schemas.openxmlformats.org/drawingml/2006/main" prst="roundRect">
            <a:avLst>
              <a:gd name="adj" fmla="val 25806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4213D"/>
                </a:solidFill>
              </a:defRPr>
            </a:pPr>
            <a:r>
              <a:rPr sz="1275">
                <a:solidFill>
                  <a:srgbClr val="14213D"/>
                </a:solidFill>
              </a:rPr>
              <a:t>Pipeline de preparación + Random Forest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CDC242-02E9-4668-B53B-7A0E7337F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305050"/>
            <a:ext cx="3095625" cy="209550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EEF6FF"/>
          </a:solidFill>
          <a:ln xmlns:a="http://schemas.openxmlformats.org/drawingml/2006/main" w="19050">
            <a:solidFill>
              <a:srgbClr val="1769C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51EED81-6B85-440E-A6B9-77CBEB1A6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543175"/>
            <a:ext cx="409575" cy="409575"/>
          </a:xfrm>
          <a:prstGeom xmlns:a="http://schemas.openxmlformats.org/drawingml/2006/main" prst="roundRect">
            <a:avLst>
              <a:gd name="adj" fmla="val 37209"/>
            </a:avLst>
          </a:prstGeom>
          <a:solidFill xmlns:a="http://schemas.openxmlformats.org/drawingml/2006/main">
            <a:srgbClr val="1769C2"/>
          </a:solidFill>
          <a:ln xmlns:a="http://schemas.openxmlformats.org/drawingml/2006/main" w="9525">
            <a:solidFill>
              <a:srgbClr val="1769C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3374682-2956-46DF-960C-97C4B6665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619375"/>
            <a:ext cx="409575" cy="2667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96BB254-44A7-4729-AF95-1EB2E0E29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3171825"/>
            <a:ext cx="2571750" cy="295275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769C2"/>
                </a:solidFill>
              </a:defRPr>
            </a:pPr>
            <a:r>
              <a:rPr sz="1725" b="1">
                <a:solidFill>
                  <a:srgbClr val="1769C2"/>
                </a:solidFill>
              </a:rPr>
              <a:t>Resultado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0C01344-B905-416E-B64E-616B677CF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3629025"/>
            <a:ext cx="2524125" cy="590550"/>
          </a:xfrm>
          <a:prstGeom xmlns:a="http://schemas.openxmlformats.org/drawingml/2006/main" prst="roundRect">
            <a:avLst>
              <a:gd name="adj" fmla="val 25806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4213D"/>
                </a:solidFill>
              </a:defRPr>
            </a:pPr>
            <a:r>
              <a:rPr sz="1275">
                <a:solidFill>
                  <a:srgbClr val="14213D"/>
                </a:solidFill>
              </a:rPr>
              <a:t>Probabilidad, nivel de riesgo y acción sugerida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110F6E4-1F41-46D0-9EBB-612C8CD59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105150"/>
            <a:ext cx="333375" cy="3333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531AE"/>
          </a:solidFill>
          <a:ln xmlns:a="http://schemas.openxmlformats.org/drawingml/2006/main" w="0">
            <a:solidFill>
              <a:srgbClr val="6531A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E300FC5-F67C-4DE5-B3E0-17440A992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105150"/>
            <a:ext cx="333375" cy="3333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8A83"/>
          </a:solidFill>
          <a:ln xmlns:a="http://schemas.openxmlformats.org/drawingml/2006/main" w="0">
            <a:solidFill>
              <a:srgbClr val="008A8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89D4691-66B9-435E-9D98-B574BCAE1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0"/>
            <a:ext cx="2095500" cy="3048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01B45"/>
                </a:solidFill>
              </a:defRPr>
            </a:pPr>
            <a:r>
              <a:rPr sz="1875" b="1">
                <a:solidFill>
                  <a:srgbClr val="101B45"/>
                </a:solidFill>
              </a:rPr>
              <a:t>Conclusión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3C1A79F-84CC-4360-9DF9-9D87B74A1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57850"/>
            <a:ext cx="10715625" cy="495300"/>
          </a:xfrm>
          <a:prstGeom xmlns:a="http://schemas.openxmlformats.org/drawingml/2006/main" prst="roundRect">
            <a:avLst>
              <a:gd name="adj" fmla="val 3076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4213D"/>
                </a:solidFill>
              </a:defRPr>
            </a:pPr>
            <a:r>
              <a:rPr sz="1500">
                <a:solidFill>
                  <a:srgbClr val="14213D"/>
                </a:solidFill>
              </a:rPr>
              <a:t>El modelo cumple como sistema de priorización preventiva. Su siguiente paso no es automatizar decisiones: es probarlo con datos de un hotel real, medir el impacto de cada acción y recalibrar sus probabilidades.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9F67FD5-80E1-4892-9C81-23A5FC630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096250" cy="1714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7A86A3"/>
                </a:solidFill>
              </a:defRPr>
            </a:pPr>
            <a:r>
              <a:rPr sz="750">
                <a:solidFill>
                  <a:srgbClr val="7A86A3"/>
                </a:solidFill>
              </a:rPr>
              <a:t>Proyecto final · Predicción de cancelaciones hoteleras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465509A-7559-4E1F-A084-E7F12885B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57950"/>
            <a:ext cx="3810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531AE"/>
                </a:solidFill>
              </a:defRPr>
            </a:pPr>
            <a:r>
              <a:rPr sz="900" b="1">
                <a:solidFill>
                  <a:srgbClr val="6531AE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52397456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2026-08-10T01:01:46.7410000Z</dcterms:created>
  <dcterms:modified xsi:type="dcterms:W3CDTF">2026-08-10T01:01:46.7410000Z</dcterms:modified>
</coreProperties>
</file>